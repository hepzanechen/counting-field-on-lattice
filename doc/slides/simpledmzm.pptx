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3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ppt/tags/tag21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5.xml" ContentType="application/vnd.openxmlformats-officedocument.presentationml.notesSlide+xml"/>
  <Override PartName="/ppt/tags/tag29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4.xml" ContentType="application/vnd.openxmlformats-officedocument.presentationml.tags+xml"/>
  <Override PartName="/ppt/tags/tag36.xml" ContentType="application/vnd.openxmlformats-officedocument.presentationml.tags+xml"/>
  <Override PartName="/ppt/notesSlides/notesSlide6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7.xml" ContentType="application/vnd.openxmlformats-officedocument.presentationml.notesSlide+xml"/>
  <Override PartName="/ppt/tags/tag40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8.xml" ContentType="application/vnd.openxmlformats-officedocument.presentationml.notesSlide+xml"/>
  <Override PartName="/ppt/tags/tag48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9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2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22.xml" ContentType="application/vnd.openxmlformats-officedocument.presentationml.tags+xml"/>
  <Override PartName="/ppt/tags/tag30.xml" ContentType="application/vnd.openxmlformats-officedocument.presentationml.tags+xml"/>
  <Override PartName="/ppt/tags/tag33.xml" ContentType="application/vnd.openxmlformats-officedocument.presentationml.tags+xml"/>
  <Override PartName="/ppt/tags/tag35.xml" ContentType="application/vnd.openxmlformats-officedocument.presentationml.tags+xml"/>
  <Override PartName="/ppt/tags/tag41.xml" ContentType="application/vnd.openxmlformats-officedocument.presentationml.tags+xml"/>
  <Override PartName="/ppt/tags/tag49.xml" ContentType="application/vnd.openxmlformats-officedocument.presentationml.tags+xml"/>
  <Override PartName="/ppt/tags/tag56.xml" ContentType="application/vnd.openxmlformats-officedocument.presentationml.tags+xml"/>
  <Override PartName="/ppt/tags/tag61.xml" ContentType="application/vnd.openxmlformats-officedocument.presentationml.tags+xml"/>
  <Override PartName="/ppt/tags/tag66.xml" ContentType="application/vnd.openxmlformats-officedocument.presentationml.tags+xml"/>
  <Override PartName="/ppt/tags/tag71.xml" ContentType="application/vnd.openxmlformats-officedocument.presentationml.tags+xml"/>
  <Override PartName="/ppt/tags/tag73.xml" ContentType="application/vnd.openxmlformats-officedocument.presentationml.tags+xml"/>
  <Override PartName="/ppt/tags/tag82.xml" ContentType="application/vnd.openxmlformats-officedocument.presentationml.tags+xml"/>
  <Override PartName="/ppt/tags/tag89.xml" ContentType="application/vnd.openxmlformats-officedocument.presentationml.tags+xml"/>
  <Override PartName="/ppt/tags/tag92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337" r:id="rId3"/>
    <p:sldId id="347" r:id="rId4"/>
    <p:sldId id="359" r:id="rId5"/>
    <p:sldId id="349" r:id="rId6"/>
    <p:sldId id="350" r:id="rId7"/>
    <p:sldId id="351" r:id="rId8"/>
    <p:sldId id="361" r:id="rId9"/>
    <p:sldId id="381" r:id="rId10"/>
    <p:sldId id="380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Cambria Math" panose="02040503050406030204" pitchFamily="18" charset="0"/>
      <p:regular r:id="rId19"/>
    </p:embeddedFon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MS Mincho" panose="02020609040205080304" pitchFamily="49" charset="-128"/>
      <p:regular r:id="rId24"/>
    </p:embeddedFont>
    <p:embeddedFont>
      <p:font typeface="Palatino Linotype" panose="02040502050505030304" pitchFamily="18" charset="0"/>
      <p:regular r:id="rId25"/>
      <p:bold r:id="rId26"/>
      <p:italic r:id="rId27"/>
      <p:boldItalic r:id="rId28"/>
    </p:embeddedFont>
    <p:embeddedFont>
      <p:font typeface="华文新魏" panose="02010800040101010101" pitchFamily="2" charset="-122"/>
      <p:regular r:id="rId29"/>
    </p:embeddedFont>
    <p:embeddedFont>
      <p:font typeface="微软雅黑" panose="020B0503020204020204" pitchFamily="34" charset="-122"/>
      <p:regular r:id="rId30"/>
      <p:bold r:id="rId31"/>
    </p:embeddedFont>
  </p:embeddedFontLst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448" userDrawn="1">
          <p15:clr>
            <a:srgbClr val="A4A3A4"/>
          </p15:clr>
        </p15:guide>
        <p15:guide id="6" pos="7680" userDrawn="1">
          <p15:clr>
            <a:srgbClr val="A4A3A4"/>
          </p15:clr>
        </p15:guide>
        <p15:guide id="9" pos="4409" userDrawn="1">
          <p15:clr>
            <a:srgbClr val="A4A3A4"/>
          </p15:clr>
        </p15:guide>
        <p15:guide id="11" orient="horz" pos="2228" userDrawn="1">
          <p15:clr>
            <a:srgbClr val="A4A3A4"/>
          </p15:clr>
        </p15:guide>
        <p15:guide id="12" orient="horz" pos="36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B0012"/>
    <a:srgbClr val="3D3630"/>
    <a:srgbClr val="0170D1"/>
    <a:srgbClr val="FFFFFF"/>
    <a:srgbClr val="313131"/>
    <a:srgbClr val="016DC8"/>
    <a:srgbClr val="595959"/>
    <a:srgbClr val="D3D4DF"/>
    <a:srgbClr val="545953"/>
    <a:srgbClr val="5558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8" autoAdjust="0"/>
    <p:restoredTop sz="91018" autoAdjust="0"/>
  </p:normalViewPr>
  <p:slideViewPr>
    <p:cSldViewPr snapToGrid="0" showGuides="1">
      <p:cViewPr varScale="1">
        <p:scale>
          <a:sx n="60" d="100"/>
          <a:sy n="60" d="100"/>
        </p:scale>
        <p:origin x="756" y="28"/>
      </p:cViewPr>
      <p:guideLst>
        <p:guide pos="448"/>
        <p:guide pos="7680"/>
        <p:guide pos="4409"/>
        <p:guide orient="horz" pos="2228"/>
        <p:guide orient="horz" pos="361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29.wmf"/><Relationship Id="rId4" Type="http://schemas.openxmlformats.org/officeDocument/2006/relationships/image" Target="../media/image5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2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089739-453E-400A-A8D8-79CFDF178070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D3EA3B-D2E9-4E05-9324-5750E33A805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D3EA3B-D2E9-4E05-9324-5750E33A805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D3EA3B-D2E9-4E05-9324-5750E33A8057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D3EA3B-D2E9-4E05-9324-5750E33A8057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D3EA3B-D2E9-4E05-9324-5750E33A8057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D3EA3B-D2E9-4E05-9324-5750E33A8057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D3EA3B-D2E9-4E05-9324-5750E33A8057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D3EA3B-D2E9-4E05-9324-5750E33A8057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D3EA3B-D2E9-4E05-9324-5750E33A8057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D3EA3B-D2E9-4E05-9324-5750E33A8057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D3EA3B-D2E9-4E05-9324-5750E33A8057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2E1A-5E97-4DA6-98A9-1C031EFFC33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0988-8FC0-4877-AA64-EDAB5B5099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2000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2E1A-5E97-4DA6-98A9-1C031EFFC33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0988-8FC0-4877-AA64-EDAB5B5099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2000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2E1A-5E97-4DA6-98A9-1C031EFFC33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0988-8FC0-4877-AA64-EDAB5B5099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2000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2E1A-5E97-4DA6-98A9-1C031EFFC33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0988-8FC0-4877-AA64-EDAB5B5099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2000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2E1A-5E97-4DA6-98A9-1C031EFFC33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0988-8FC0-4877-AA64-EDAB5B5099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2000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2E1A-5E97-4DA6-98A9-1C031EFFC33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0988-8FC0-4877-AA64-EDAB5B5099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2000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2E1A-5E97-4DA6-98A9-1C031EFFC33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0988-8FC0-4877-AA64-EDAB5B5099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2000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2E1A-5E97-4DA6-98A9-1C031EFFC33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0988-8FC0-4877-AA64-EDAB5B5099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2000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2E1A-5E97-4DA6-98A9-1C031EFFC33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0988-8FC0-4877-AA64-EDAB5B5099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2000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2E1A-5E97-4DA6-98A9-1C031EFFC33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0988-8FC0-4877-AA64-EDAB5B5099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2000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2E1A-5E97-4DA6-98A9-1C031EFFC33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B0988-8FC0-4877-AA64-EDAB5B5099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Click="0" advTm="2000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0F2E1A-5E97-4DA6-98A9-1C031EFFC331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B0988-8FC0-4877-AA64-EDAB5B50997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 advTm="2000">
    <p:random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.wmf"/><Relationship Id="rId3" Type="http://schemas.openxmlformats.org/officeDocument/2006/relationships/tags" Target="../tags/tag7.xml"/><Relationship Id="rId7" Type="http://schemas.openxmlformats.org/officeDocument/2006/relationships/notesSlide" Target="../notesSlides/notesSlide2.xml"/><Relationship Id="rId12" Type="http://schemas.openxmlformats.org/officeDocument/2006/relationships/oleObject" Target="../embeddings/oleObject2.bin"/><Relationship Id="rId2" Type="http://schemas.openxmlformats.org/officeDocument/2006/relationships/tags" Target="../tags/tag6.xml"/><Relationship Id="rId1" Type="http://schemas.openxmlformats.org/officeDocument/2006/relationships/vmlDrawing" Target="../drawings/vmlDrawing1.v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1.wmf"/><Relationship Id="rId5" Type="http://schemas.openxmlformats.org/officeDocument/2006/relationships/tags" Target="../tags/tag9.xml"/><Relationship Id="rId15" Type="http://schemas.openxmlformats.org/officeDocument/2006/relationships/image" Target="../media/image6.png"/><Relationship Id="rId10" Type="http://schemas.openxmlformats.org/officeDocument/2006/relationships/oleObject" Target="../embeddings/oleObject1.bin"/><Relationship Id="rId4" Type="http://schemas.openxmlformats.org/officeDocument/2006/relationships/tags" Target="../tags/tag8.xml"/><Relationship Id="rId9" Type="http://schemas.openxmlformats.org/officeDocument/2006/relationships/image" Target="../media/image4.png"/><Relationship Id="rId1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22.xml"/><Relationship Id="rId18" Type="http://schemas.openxmlformats.org/officeDocument/2006/relationships/oleObject" Target="../embeddings/oleObject3.bin"/><Relationship Id="rId26" Type="http://schemas.openxmlformats.org/officeDocument/2006/relationships/image" Target="../media/image16.png"/><Relationship Id="rId39" Type="http://schemas.openxmlformats.org/officeDocument/2006/relationships/image" Target="../media/image25.png"/><Relationship Id="rId21" Type="http://schemas.openxmlformats.org/officeDocument/2006/relationships/image" Target="../media/image8.wmf"/><Relationship Id="rId34" Type="http://schemas.openxmlformats.org/officeDocument/2006/relationships/image" Target="../media/image22.png"/><Relationship Id="rId7" Type="http://schemas.openxmlformats.org/officeDocument/2006/relationships/tags" Target="../tags/tag15.xml"/><Relationship Id="rId12" Type="http://schemas.openxmlformats.org/officeDocument/2006/relationships/notesSlide" Target="../notesSlides/notesSlide3.xml"/><Relationship Id="rId17" Type="http://schemas.openxmlformats.org/officeDocument/2006/relationships/image" Target="../media/image11.svg"/><Relationship Id="rId25" Type="http://schemas.openxmlformats.org/officeDocument/2006/relationships/image" Target="../media/image15.png"/><Relationship Id="rId33" Type="http://schemas.openxmlformats.org/officeDocument/2006/relationships/image" Target="../media/image21.png"/><Relationship Id="rId38" Type="http://schemas.openxmlformats.org/officeDocument/2006/relationships/image" Target="../media/image24.png"/><Relationship Id="rId2" Type="http://schemas.openxmlformats.org/officeDocument/2006/relationships/tags" Target="../tags/tag10.xml"/><Relationship Id="rId16" Type="http://schemas.openxmlformats.org/officeDocument/2006/relationships/image" Target="../media/image10.png"/><Relationship Id="rId20" Type="http://schemas.openxmlformats.org/officeDocument/2006/relationships/oleObject" Target="../embeddings/oleObject4.bin"/><Relationship Id="rId29" Type="http://schemas.openxmlformats.org/officeDocument/2006/relationships/image" Target="../media/image19.png"/><Relationship Id="rId1" Type="http://schemas.openxmlformats.org/officeDocument/2006/relationships/vmlDrawing" Target="../drawings/vmlDrawing2.vml"/><Relationship Id="rId6" Type="http://schemas.openxmlformats.org/officeDocument/2006/relationships/tags" Target="../tags/tag14.xml"/><Relationship Id="rId11" Type="http://schemas.openxmlformats.org/officeDocument/2006/relationships/slideLayout" Target="../slideLayouts/slideLayout1.xml"/><Relationship Id="rId24" Type="http://schemas.openxmlformats.org/officeDocument/2006/relationships/image" Target="../media/image14.png"/><Relationship Id="rId32" Type="http://schemas.openxmlformats.org/officeDocument/2006/relationships/image" Target="../media/image46.png"/><Relationship Id="rId37" Type="http://schemas.openxmlformats.org/officeDocument/2006/relationships/image" Target="../media/image23.png"/><Relationship Id="rId40" Type="http://schemas.openxmlformats.org/officeDocument/2006/relationships/image" Target="../media/image53.png"/><Relationship Id="rId5" Type="http://schemas.openxmlformats.org/officeDocument/2006/relationships/tags" Target="../tags/tag13.xml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image" Target="../media/image18.png"/><Relationship Id="rId36" Type="http://schemas.openxmlformats.org/officeDocument/2006/relationships/image" Target="../media/image49.png"/><Relationship Id="rId10" Type="http://schemas.openxmlformats.org/officeDocument/2006/relationships/tags" Target="../tags/tag18.xml"/><Relationship Id="rId19" Type="http://schemas.openxmlformats.org/officeDocument/2006/relationships/image" Target="../media/image7.wmf"/><Relationship Id="rId31" Type="http://schemas.openxmlformats.org/officeDocument/2006/relationships/image" Target="../media/image20.png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image" Target="../media/image30.png"/><Relationship Id="rId22" Type="http://schemas.openxmlformats.org/officeDocument/2006/relationships/image" Target="../media/image12.png"/><Relationship Id="rId27" Type="http://schemas.openxmlformats.org/officeDocument/2006/relationships/image" Target="../media/image17.png"/><Relationship Id="rId30" Type="http://schemas.openxmlformats.org/officeDocument/2006/relationships/image" Target="../media/image44.png"/><Relationship Id="rId35" Type="http://schemas.openxmlformats.org/officeDocument/2006/relationships/tags" Target="../tags/tag30.xml"/><Relationship Id="rId8" Type="http://schemas.openxmlformats.org/officeDocument/2006/relationships/tags" Target="../tags/tag16.xml"/><Relationship Id="rId3" Type="http://schemas.openxmlformats.org/officeDocument/2006/relationships/tags" Target="../tags/tag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5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33.xml"/><Relationship Id="rId5" Type="http://schemas.openxmlformats.org/officeDocument/2006/relationships/image" Target="../media/image26.png"/><Relationship Id="rId10" Type="http://schemas.openxmlformats.org/officeDocument/2006/relationships/image" Target="../media/image57.png"/><Relationship Id="rId4" Type="http://schemas.openxmlformats.org/officeDocument/2006/relationships/notesSlide" Target="../notesSlides/notesSlide4.xml"/><Relationship Id="rId9" Type="http://schemas.openxmlformats.org/officeDocument/2006/relationships/tags" Target="../tags/tag3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31.wmf"/><Relationship Id="rId26" Type="http://schemas.openxmlformats.org/officeDocument/2006/relationships/image" Target="../media/image32.wmf"/><Relationship Id="rId3" Type="http://schemas.openxmlformats.org/officeDocument/2006/relationships/tags" Target="../tags/tag23.xml"/><Relationship Id="rId21" Type="http://schemas.openxmlformats.org/officeDocument/2006/relationships/image" Target="../media/image33.png"/><Relationship Id="rId7" Type="http://schemas.openxmlformats.org/officeDocument/2006/relationships/tags" Target="../tags/tag27.xml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9.bin"/><Relationship Id="rId2" Type="http://schemas.openxmlformats.org/officeDocument/2006/relationships/tags" Target="../tags/tag21.xml"/><Relationship Id="rId16" Type="http://schemas.openxmlformats.org/officeDocument/2006/relationships/image" Target="../media/image30.wmf"/><Relationship Id="rId20" Type="http://schemas.openxmlformats.org/officeDocument/2006/relationships/image" Target="../media/image62.png"/><Relationship Id="rId1" Type="http://schemas.openxmlformats.org/officeDocument/2006/relationships/vmlDrawing" Target="../drawings/vmlDrawing3.vml"/><Relationship Id="rId6" Type="http://schemas.openxmlformats.org/officeDocument/2006/relationships/tags" Target="../tags/tag26.xml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35.png"/><Relationship Id="rId5" Type="http://schemas.openxmlformats.org/officeDocument/2006/relationships/tags" Target="../tags/tag25.xml"/><Relationship Id="rId15" Type="http://schemas.openxmlformats.org/officeDocument/2006/relationships/oleObject" Target="../embeddings/oleObject7.bin"/><Relationship Id="rId23" Type="http://schemas.openxmlformats.org/officeDocument/2006/relationships/image" Target="../media/image34.png"/><Relationship Id="rId28" Type="http://schemas.openxmlformats.org/officeDocument/2006/relationships/image" Target="../media/image36.png"/><Relationship Id="rId10" Type="http://schemas.openxmlformats.org/officeDocument/2006/relationships/notesSlide" Target="../notesSlides/notesSlide5.xml"/><Relationship Id="rId19" Type="http://schemas.openxmlformats.org/officeDocument/2006/relationships/tags" Target="../tags/tag41.xml"/><Relationship Id="rId4" Type="http://schemas.openxmlformats.org/officeDocument/2006/relationships/tags" Target="../tags/tag24.xml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29.wmf"/><Relationship Id="rId22" Type="http://schemas.openxmlformats.org/officeDocument/2006/relationships/image" Target="../media/image13.png"/><Relationship Id="rId27" Type="http://schemas.openxmlformats.org/officeDocument/2006/relationships/image" Target="../media/image6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40.png"/><Relationship Id="rId3" Type="http://schemas.openxmlformats.org/officeDocument/2006/relationships/tags" Target="../tags/tag31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39.png"/><Relationship Id="rId17" Type="http://schemas.openxmlformats.org/officeDocument/2006/relationships/tags" Target="../tags/tag49.xml"/><Relationship Id="rId2" Type="http://schemas.openxmlformats.org/officeDocument/2006/relationships/tags" Target="../tags/tag29.xml"/><Relationship Id="rId16" Type="http://schemas.openxmlformats.org/officeDocument/2006/relationships/image" Target="../media/image38.wmf"/><Relationship Id="rId20" Type="http://schemas.openxmlformats.org/officeDocument/2006/relationships/image" Target="../media/image42.png"/><Relationship Id="rId1" Type="http://schemas.openxmlformats.org/officeDocument/2006/relationships/vmlDrawing" Target="../drawings/vmlDrawing4.vml"/><Relationship Id="rId6" Type="http://schemas.openxmlformats.org/officeDocument/2006/relationships/tags" Target="../tags/tag36.xml"/><Relationship Id="rId11" Type="http://schemas.openxmlformats.org/officeDocument/2006/relationships/image" Target="../media/image69.png"/><Relationship Id="rId5" Type="http://schemas.openxmlformats.org/officeDocument/2006/relationships/tags" Target="../tags/tag34.xml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29.wmf"/><Relationship Id="rId19" Type="http://schemas.openxmlformats.org/officeDocument/2006/relationships/image" Target="../media/image41.png"/><Relationship Id="rId4" Type="http://schemas.openxmlformats.org/officeDocument/2006/relationships/tags" Target="../tags/tag32.xml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3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image" Target="../media/image50.png"/><Relationship Id="rId3" Type="http://schemas.openxmlformats.org/officeDocument/2006/relationships/tags" Target="../tags/tag38.xml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48.png"/><Relationship Id="rId2" Type="http://schemas.openxmlformats.org/officeDocument/2006/relationships/tags" Target="../tags/tag37.xml"/><Relationship Id="rId1" Type="http://schemas.openxmlformats.org/officeDocument/2006/relationships/vmlDrawing" Target="../drawings/vmlDrawing5.vml"/><Relationship Id="rId6" Type="http://schemas.openxmlformats.org/officeDocument/2006/relationships/notesSlide" Target="../notesSlides/notesSlide7.xml"/><Relationship Id="rId11" Type="http://schemas.openxmlformats.org/officeDocument/2006/relationships/image" Target="../media/image47.png"/><Relationship Id="rId5" Type="http://schemas.openxmlformats.org/officeDocument/2006/relationships/slideLayout" Target="../slideLayouts/slideLayout1.xml"/><Relationship Id="rId15" Type="http://schemas.openxmlformats.org/officeDocument/2006/relationships/image" Target="../media/image52.png"/><Relationship Id="rId10" Type="http://schemas.openxmlformats.org/officeDocument/2006/relationships/image" Target="../media/image45.png"/><Relationship Id="rId4" Type="http://schemas.openxmlformats.org/officeDocument/2006/relationships/tags" Target="../tags/tag39.xml"/><Relationship Id="rId9" Type="http://schemas.openxmlformats.org/officeDocument/2006/relationships/image" Target="../media/image43.png"/><Relationship Id="rId1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image" Target="../media/image9.png"/><Relationship Id="rId18" Type="http://schemas.openxmlformats.org/officeDocument/2006/relationships/oleObject" Target="../embeddings/oleObject16.bin"/><Relationship Id="rId26" Type="http://schemas.openxmlformats.org/officeDocument/2006/relationships/image" Target="../media/image90.png"/><Relationship Id="rId3" Type="http://schemas.openxmlformats.org/officeDocument/2006/relationships/tags" Target="../tags/tag42.xml"/><Relationship Id="rId21" Type="http://schemas.openxmlformats.org/officeDocument/2006/relationships/image" Target="../media/image55.wmf"/><Relationship Id="rId7" Type="http://schemas.openxmlformats.org/officeDocument/2006/relationships/tags" Target="../tags/tag46.xml"/><Relationship Id="rId12" Type="http://schemas.openxmlformats.org/officeDocument/2006/relationships/image" Target="../media/image29.wmf"/><Relationship Id="rId17" Type="http://schemas.openxmlformats.org/officeDocument/2006/relationships/image" Target="../media/image84.png"/><Relationship Id="rId25" Type="http://schemas.openxmlformats.org/officeDocument/2006/relationships/tags" Target="../tags/tag61.xml"/><Relationship Id="rId2" Type="http://schemas.openxmlformats.org/officeDocument/2006/relationships/tags" Target="../tags/tag40.xml"/><Relationship Id="rId16" Type="http://schemas.openxmlformats.org/officeDocument/2006/relationships/tags" Target="../tags/tag56.xml"/><Relationship Id="rId20" Type="http://schemas.openxmlformats.org/officeDocument/2006/relationships/oleObject" Target="../embeddings/oleObject17.bin"/><Relationship Id="rId29" Type="http://schemas.openxmlformats.org/officeDocument/2006/relationships/image" Target="../media/image60.png"/><Relationship Id="rId1" Type="http://schemas.openxmlformats.org/officeDocument/2006/relationships/vmlDrawing" Target="../drawings/vmlDrawing6.vml"/><Relationship Id="rId6" Type="http://schemas.openxmlformats.org/officeDocument/2006/relationships/tags" Target="../tags/tag45.xml"/><Relationship Id="rId11" Type="http://schemas.openxmlformats.org/officeDocument/2006/relationships/oleObject" Target="../embeddings/oleObject14.bin"/><Relationship Id="rId24" Type="http://schemas.openxmlformats.org/officeDocument/2006/relationships/image" Target="../media/image59.png"/><Relationship Id="rId5" Type="http://schemas.openxmlformats.org/officeDocument/2006/relationships/tags" Target="../tags/tag44.xml"/><Relationship Id="rId15" Type="http://schemas.openxmlformats.org/officeDocument/2006/relationships/image" Target="../media/image53.wmf"/><Relationship Id="rId23" Type="http://schemas.openxmlformats.org/officeDocument/2006/relationships/image" Target="../media/image58.png"/><Relationship Id="rId28" Type="http://schemas.openxmlformats.org/officeDocument/2006/relationships/oleObject" Target="../embeddings/oleObject19.bin"/><Relationship Id="rId10" Type="http://schemas.openxmlformats.org/officeDocument/2006/relationships/notesSlide" Target="../notesSlides/notesSlide8.xml"/><Relationship Id="rId19" Type="http://schemas.openxmlformats.org/officeDocument/2006/relationships/image" Target="../media/image54.wmf"/><Relationship Id="rId4" Type="http://schemas.openxmlformats.org/officeDocument/2006/relationships/tags" Target="../tags/tag43.xml"/><Relationship Id="rId9" Type="http://schemas.openxmlformats.org/officeDocument/2006/relationships/slideLayout" Target="../slideLayouts/slideLayout1.xml"/><Relationship Id="rId14" Type="http://schemas.openxmlformats.org/officeDocument/2006/relationships/oleObject" Target="../embeddings/oleObject15.bin"/><Relationship Id="rId22" Type="http://schemas.openxmlformats.org/officeDocument/2006/relationships/image" Target="../media/image56.png"/><Relationship Id="rId27" Type="http://schemas.openxmlformats.org/officeDocument/2006/relationships/oleObject" Target="../embeddings/oleObject18.bin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62.xml"/><Relationship Id="rId18" Type="http://schemas.openxmlformats.org/officeDocument/2006/relationships/image" Target="../media/image29.wmf"/><Relationship Id="rId26" Type="http://schemas.openxmlformats.org/officeDocument/2006/relationships/oleObject" Target="../embeddings/oleObject23.bin"/><Relationship Id="rId21" Type="http://schemas.openxmlformats.org/officeDocument/2006/relationships/image" Target="../media/image54.wmf"/><Relationship Id="rId34" Type="http://schemas.openxmlformats.org/officeDocument/2006/relationships/tags" Target="../tags/tag73.xml"/><Relationship Id="rId7" Type="http://schemas.openxmlformats.org/officeDocument/2006/relationships/tags" Target="../tags/tag54.xml"/><Relationship Id="rId12" Type="http://schemas.openxmlformats.org/officeDocument/2006/relationships/tags" Target="../tags/tag60.xml"/><Relationship Id="rId17" Type="http://schemas.openxmlformats.org/officeDocument/2006/relationships/oleObject" Target="../embeddings/oleObject20.bin"/><Relationship Id="rId25" Type="http://schemas.openxmlformats.org/officeDocument/2006/relationships/image" Target="../media/image92.png"/><Relationship Id="rId33" Type="http://schemas.openxmlformats.org/officeDocument/2006/relationships/image" Target="../media/image95.png"/><Relationship Id="rId38" Type="http://schemas.openxmlformats.org/officeDocument/2006/relationships/image" Target="../media/image64.png"/><Relationship Id="rId2" Type="http://schemas.openxmlformats.org/officeDocument/2006/relationships/tags" Target="../tags/tag48.xml"/><Relationship Id="rId16" Type="http://schemas.openxmlformats.org/officeDocument/2006/relationships/notesSlide" Target="../notesSlides/notesSlide9.xml"/><Relationship Id="rId20" Type="http://schemas.openxmlformats.org/officeDocument/2006/relationships/oleObject" Target="../embeddings/oleObject21.bin"/><Relationship Id="rId29" Type="http://schemas.openxmlformats.org/officeDocument/2006/relationships/image" Target="../media/image42.png"/><Relationship Id="rId1" Type="http://schemas.openxmlformats.org/officeDocument/2006/relationships/vmlDrawing" Target="../drawings/vmlDrawing7.vml"/><Relationship Id="rId6" Type="http://schemas.openxmlformats.org/officeDocument/2006/relationships/tags" Target="../tags/tag53.xml"/><Relationship Id="rId11" Type="http://schemas.openxmlformats.org/officeDocument/2006/relationships/tags" Target="../tags/tag59.xml"/><Relationship Id="rId24" Type="http://schemas.openxmlformats.org/officeDocument/2006/relationships/tags" Target="../tags/tag66.xml"/><Relationship Id="rId32" Type="http://schemas.openxmlformats.org/officeDocument/2006/relationships/tags" Target="../tags/tag71.xml"/><Relationship Id="rId37" Type="http://schemas.openxmlformats.org/officeDocument/2006/relationships/image" Target="../media/image63.png"/><Relationship Id="rId5" Type="http://schemas.openxmlformats.org/officeDocument/2006/relationships/tags" Target="../tags/tag52.xml"/><Relationship Id="rId15" Type="http://schemas.openxmlformats.org/officeDocument/2006/relationships/slideLayout" Target="../slideLayouts/slideLayout1.xml"/><Relationship Id="rId23" Type="http://schemas.openxmlformats.org/officeDocument/2006/relationships/image" Target="../media/image55.wmf"/><Relationship Id="rId28" Type="http://schemas.openxmlformats.org/officeDocument/2006/relationships/image" Target="../media/image41.png"/><Relationship Id="rId36" Type="http://schemas.openxmlformats.org/officeDocument/2006/relationships/image" Target="../media/image61.png"/><Relationship Id="rId10" Type="http://schemas.openxmlformats.org/officeDocument/2006/relationships/tags" Target="../tags/tag58.xml"/><Relationship Id="rId19" Type="http://schemas.openxmlformats.org/officeDocument/2006/relationships/image" Target="../media/image9.png"/><Relationship Id="rId31" Type="http://schemas.openxmlformats.org/officeDocument/2006/relationships/image" Target="../media/image94.png"/><Relationship Id="rId4" Type="http://schemas.openxmlformats.org/officeDocument/2006/relationships/tags" Target="../tags/tag51.xml"/><Relationship Id="rId9" Type="http://schemas.openxmlformats.org/officeDocument/2006/relationships/tags" Target="../tags/tag57.xml"/><Relationship Id="rId14" Type="http://schemas.openxmlformats.org/officeDocument/2006/relationships/tags" Target="../tags/tag63.xml"/><Relationship Id="rId22" Type="http://schemas.openxmlformats.org/officeDocument/2006/relationships/oleObject" Target="../embeddings/oleObject22.bin"/><Relationship Id="rId27" Type="http://schemas.openxmlformats.org/officeDocument/2006/relationships/oleObject" Target="../embeddings/oleObject24.bin"/><Relationship Id="rId30" Type="http://schemas.openxmlformats.org/officeDocument/2006/relationships/image" Target="../media/image93.png"/><Relationship Id="rId35" Type="http://schemas.openxmlformats.org/officeDocument/2006/relationships/image" Target="../media/image96.png"/><Relationship Id="rId8" Type="http://schemas.openxmlformats.org/officeDocument/2006/relationships/tags" Target="../tags/tag55.xml"/><Relationship Id="rId3" Type="http://schemas.openxmlformats.org/officeDocument/2006/relationships/tags" Target="../tags/tag50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78.xml"/><Relationship Id="rId18" Type="http://schemas.openxmlformats.org/officeDocument/2006/relationships/image" Target="../media/image9.png"/><Relationship Id="rId26" Type="http://schemas.openxmlformats.org/officeDocument/2006/relationships/oleObject" Target="../embeddings/oleObject29.bin"/><Relationship Id="rId21" Type="http://schemas.openxmlformats.org/officeDocument/2006/relationships/oleObject" Target="../embeddings/oleObject27.bin"/><Relationship Id="rId34" Type="http://schemas.openxmlformats.org/officeDocument/2006/relationships/image" Target="../media/image95.png"/><Relationship Id="rId7" Type="http://schemas.openxmlformats.org/officeDocument/2006/relationships/tags" Target="../tags/tag70.xml"/><Relationship Id="rId12" Type="http://schemas.openxmlformats.org/officeDocument/2006/relationships/tags" Target="../tags/tag77.xml"/><Relationship Id="rId17" Type="http://schemas.openxmlformats.org/officeDocument/2006/relationships/image" Target="../media/image29.wmf"/><Relationship Id="rId25" Type="http://schemas.openxmlformats.org/officeDocument/2006/relationships/oleObject" Target="../embeddings/oleObject28.bin"/><Relationship Id="rId33" Type="http://schemas.openxmlformats.org/officeDocument/2006/relationships/tags" Target="../tags/tag89.xml"/><Relationship Id="rId2" Type="http://schemas.openxmlformats.org/officeDocument/2006/relationships/tags" Target="../tags/tag64.xml"/><Relationship Id="rId16" Type="http://schemas.openxmlformats.org/officeDocument/2006/relationships/oleObject" Target="../embeddings/oleObject25.bin"/><Relationship Id="rId20" Type="http://schemas.openxmlformats.org/officeDocument/2006/relationships/image" Target="../media/image54.wmf"/><Relationship Id="rId29" Type="http://schemas.openxmlformats.org/officeDocument/2006/relationships/image" Target="../media/image93.png"/><Relationship Id="rId1" Type="http://schemas.openxmlformats.org/officeDocument/2006/relationships/vmlDrawing" Target="../drawings/vmlDrawing8.vml"/><Relationship Id="rId6" Type="http://schemas.openxmlformats.org/officeDocument/2006/relationships/tags" Target="../tags/tag69.xml"/><Relationship Id="rId11" Type="http://schemas.openxmlformats.org/officeDocument/2006/relationships/tags" Target="../tags/tag76.xml"/><Relationship Id="rId24" Type="http://schemas.openxmlformats.org/officeDocument/2006/relationships/image" Target="../media/image100.png"/><Relationship Id="rId32" Type="http://schemas.openxmlformats.org/officeDocument/2006/relationships/image" Target="../media/image66.png"/><Relationship Id="rId37" Type="http://schemas.openxmlformats.org/officeDocument/2006/relationships/image" Target="../media/image96.png"/><Relationship Id="rId5" Type="http://schemas.openxmlformats.org/officeDocument/2006/relationships/tags" Target="../tags/tag68.xml"/><Relationship Id="rId15" Type="http://schemas.openxmlformats.org/officeDocument/2006/relationships/notesSlide" Target="../notesSlides/notesSlide10.xml"/><Relationship Id="rId23" Type="http://schemas.openxmlformats.org/officeDocument/2006/relationships/tags" Target="../tags/tag82.xml"/><Relationship Id="rId28" Type="http://schemas.openxmlformats.org/officeDocument/2006/relationships/image" Target="../media/image42.png"/><Relationship Id="rId36" Type="http://schemas.openxmlformats.org/officeDocument/2006/relationships/tags" Target="../tags/tag92.xml"/><Relationship Id="rId10" Type="http://schemas.openxmlformats.org/officeDocument/2006/relationships/tags" Target="../tags/tag75.xml"/><Relationship Id="rId19" Type="http://schemas.openxmlformats.org/officeDocument/2006/relationships/oleObject" Target="../embeddings/oleObject26.bin"/><Relationship Id="rId31" Type="http://schemas.openxmlformats.org/officeDocument/2006/relationships/image" Target="../media/image94.png"/><Relationship Id="rId4" Type="http://schemas.openxmlformats.org/officeDocument/2006/relationships/tags" Target="../tags/tag67.xml"/><Relationship Id="rId9" Type="http://schemas.openxmlformats.org/officeDocument/2006/relationships/tags" Target="../tags/tag74.xml"/><Relationship Id="rId14" Type="http://schemas.openxmlformats.org/officeDocument/2006/relationships/slideLayout" Target="../slideLayouts/slideLayout1.xml"/><Relationship Id="rId22" Type="http://schemas.openxmlformats.org/officeDocument/2006/relationships/image" Target="../media/image55.wmf"/><Relationship Id="rId27" Type="http://schemas.openxmlformats.org/officeDocument/2006/relationships/image" Target="../media/image41.png"/><Relationship Id="rId30" Type="http://schemas.openxmlformats.org/officeDocument/2006/relationships/image" Target="../media/image65.png"/><Relationship Id="rId35" Type="http://schemas.openxmlformats.org/officeDocument/2006/relationships/image" Target="../media/image68.png"/><Relationship Id="rId8" Type="http://schemas.openxmlformats.org/officeDocument/2006/relationships/tags" Target="../tags/tag72.xml"/><Relationship Id="rId3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_文本框 12"/>
          <p:cNvSpPr txBox="1"/>
          <p:nvPr>
            <p:custDataLst>
              <p:tags r:id="rId1"/>
            </p:custDataLst>
          </p:nvPr>
        </p:nvSpPr>
        <p:spPr>
          <a:xfrm>
            <a:off x="7450898" y="667375"/>
            <a:ext cx="36674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FFFFFF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年终</a:t>
            </a:r>
            <a:endParaRPr lang="en-US" altLang="zh-CN" sz="4400" b="1" dirty="0">
              <a:solidFill>
                <a:srgbClr val="FFFFFF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r>
              <a:rPr lang="zh-CN" altLang="en-US" sz="4400" b="1" dirty="0">
                <a:solidFill>
                  <a:srgbClr val="FFFFFF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公司总结报告</a:t>
            </a:r>
          </a:p>
        </p:txBody>
      </p:sp>
      <p:cxnSp>
        <p:nvCxnSpPr>
          <p:cNvPr id="16" name="PA_直接连接符 15"/>
          <p:cNvCxnSpPr/>
          <p:nvPr>
            <p:custDataLst>
              <p:tags r:id="rId2"/>
            </p:custDataLst>
          </p:nvPr>
        </p:nvCxnSpPr>
        <p:spPr>
          <a:xfrm>
            <a:off x="7603752" y="3570194"/>
            <a:ext cx="1341904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A_直接连接符 17"/>
          <p:cNvCxnSpPr/>
          <p:nvPr>
            <p:custDataLst>
              <p:tags r:id="rId3"/>
            </p:custDataLst>
          </p:nvPr>
        </p:nvCxnSpPr>
        <p:spPr>
          <a:xfrm>
            <a:off x="7603752" y="5779994"/>
            <a:ext cx="3086473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A_矩形 25"/>
          <p:cNvSpPr/>
          <p:nvPr>
            <p:custDataLst>
              <p:tags r:id="rId4"/>
            </p:custDataLst>
          </p:nvPr>
        </p:nvSpPr>
        <p:spPr>
          <a:xfrm>
            <a:off x="7603752" y="5036763"/>
            <a:ext cx="3210299" cy="545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美仑设计是</a:t>
            </a:r>
            <a:r>
              <a:rPr lang="en-US" altLang="zh-CN" sz="120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PPT</a:t>
            </a:r>
            <a:r>
              <a:rPr lang="zh-CN" altLang="en-US" sz="120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设计、</a:t>
            </a:r>
            <a:r>
              <a:rPr lang="en-US" altLang="zh-CN" sz="120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PPT</a:t>
            </a:r>
            <a:r>
              <a:rPr lang="zh-CN" altLang="en-US" sz="120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美化、</a:t>
            </a:r>
            <a:r>
              <a:rPr lang="en-US" altLang="zh-CN" sz="120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PPT</a:t>
            </a:r>
            <a:r>
              <a:rPr lang="zh-CN" altLang="en-US" sz="120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定制、</a:t>
            </a:r>
            <a:r>
              <a:rPr lang="en-US" altLang="zh-CN" sz="120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PPT</a:t>
            </a:r>
            <a:r>
              <a:rPr lang="zh-CN" altLang="en-US" sz="120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模板综合一体的</a:t>
            </a:r>
            <a:r>
              <a:rPr lang="en-US" altLang="zh-CN" sz="120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PPT</a:t>
            </a:r>
            <a:r>
              <a:rPr lang="zh-CN" altLang="en-US" sz="1200">
                <a:solidFill>
                  <a:schemeClr val="bg1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服务提供商。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28570" y="1548130"/>
            <a:ext cx="7642225" cy="230695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lvl="0" algn="ctr">
              <a:lnSpc>
                <a:spcPct val="15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Palatino Linotype" panose="02040502050505030304" pitchFamily="18" charset="0"/>
                <a:sym typeface="+mn-ea"/>
              </a:rPr>
              <a:t>How to identify Majorana zero modes and Dirac fermionic modes in </a:t>
            </a:r>
          </a:p>
          <a:p>
            <a:pPr lvl="0" algn="ctr">
              <a:lnSpc>
                <a:spcPct val="15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Palatino Linotype" panose="02040502050505030304" pitchFamily="18" charset="0"/>
                <a:sym typeface="+mn-ea"/>
              </a:rPr>
              <a:t>the transport experiment</a:t>
            </a:r>
            <a:endParaRPr lang="en-US" altLang="zh-CN" sz="3200" b="1" dirty="0">
              <a:solidFill>
                <a:schemeClr val="tx1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Palatino Linotype" panose="02040502050505030304" pitchFamily="18" charset="0"/>
              <a:ea typeface="冬青黑体简体中文 W3" panose="020B0300000000000000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p14:presetBounceEnd="40000">
                                      <p:stCondLst>
                                        <p:cond delay="1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 p14:presetBounceEnd="40000">
                                      <p:stCondLst>
                                        <p:cond delay="1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2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2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nodeType="withEffect" p14:presetBounceEnd="40000">
                                      <p:stCondLst>
                                        <p:cond delay="1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25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25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40000">
                                      <p:stCondLst>
                                        <p:cond delay="1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2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2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2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>
                                      <p:stCondLst>
                                        <p:cond delay="1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1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nodeType="withEffect">
                                      <p:stCondLst>
                                        <p:cond delay="1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1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26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文本框 222"/>
          <p:cNvSpPr txBox="1"/>
          <p:nvPr/>
        </p:nvSpPr>
        <p:spPr>
          <a:xfrm>
            <a:off x="1018540" y="356870"/>
            <a:ext cx="10800715" cy="97726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3200" dirty="0">
                <a:solidFill>
                  <a:srgbClr val="8B0012"/>
                </a:solidFill>
                <a:latin typeface="Century Gothic" panose="020B0502020202020204" pitchFamily="34" charset="0"/>
                <a:ea typeface="微软雅黑" panose="020B0503020204020204" pitchFamily="34" charset="-122"/>
              </a:rPr>
              <a:t>Noise evidence for detecting Majorana zero modes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661035" y="1418590"/>
            <a:ext cx="6522085" cy="287782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endParaRPr lang="en-US" altLang="zh-CN" sz="20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51325" y="2731770"/>
            <a:ext cx="2357120" cy="5835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zh-CN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MS Mincho" panose="02020609040205080304" charset="-128"/>
                <a:cs typeface="Calibri" panose="020F0502020204030204" charset="0"/>
              </a:rPr>
              <a:t>Crossed Andreev reflections dominate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823595" y="5421630"/>
            <a:ext cx="6522085" cy="287782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 </a:t>
            </a:r>
          </a:p>
        </p:txBody>
      </p:sp>
      <p:pic>
        <p:nvPicPr>
          <p:cNvPr id="100" name="图片 99"/>
          <p:cNvPicPr/>
          <p:nvPr/>
        </p:nvPicPr>
        <p:blipFill>
          <a:blip r:embed="rId8"/>
          <a:stretch>
            <a:fillRect/>
          </a:stretch>
        </p:blipFill>
        <p:spPr>
          <a:xfrm>
            <a:off x="430530" y="1475740"/>
            <a:ext cx="3467735" cy="17576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160655" y="4713605"/>
            <a:ext cx="4614545" cy="287782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16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ea typeface="冬青黑体简体中文 W3" panose="020B0300000000000000" pitchFamily="34" charset="-122"/>
                <a:cs typeface="Calibri" panose="020F0502020204030204" charset="0"/>
              </a:rPr>
              <a:t>    Majorana fermion induced resonant  Andreev reflection (MFIRAR). </a:t>
            </a:r>
          </a:p>
          <a:p>
            <a:endParaRPr lang="zh-CN" altLang="en-US" sz="16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ea typeface="冬青黑体简体中文 W3" panose="020B0300000000000000" pitchFamily="34" charset="-122"/>
              <a:cs typeface="Calibri" panose="020F050202020403020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430530" y="6066155"/>
            <a:ext cx="11664950" cy="1589405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kumimoji="1" lang="en-US" altLang="zh-CN" sz="1400" dirty="0">
                <a:solidFill>
                  <a:srgbClr val="008000"/>
                </a:solidFill>
                <a:latin typeface="Times New Roman" panose="02020603050405020304" pitchFamily="18" charset="0"/>
                <a:ea typeface="华文新魏" panose="02010800040101010101" charset="-122"/>
                <a:sym typeface="+mn-ea"/>
              </a:rPr>
              <a:t>J.-S. Hong, T.-F. J. Poon, L. Zhang, and X.-J. Liu, </a:t>
            </a:r>
            <a:r>
              <a:rPr kumimoji="1" lang="en-US" altLang="zh-CN" sz="1400" i="1" dirty="0">
                <a:solidFill>
                  <a:srgbClr val="008000"/>
                </a:solidFill>
                <a:latin typeface="Times New Roman" panose="02020603050405020304" pitchFamily="18" charset="0"/>
                <a:ea typeface="华文新魏" panose="02010800040101010101" charset="-122"/>
                <a:sym typeface="+mn-ea"/>
              </a:rPr>
              <a:t>Phys.</a:t>
            </a:r>
            <a:r>
              <a:rPr kumimoji="1" lang="zh-CN" altLang="en-US" sz="1400" i="1" dirty="0">
                <a:solidFill>
                  <a:srgbClr val="008000"/>
                </a:solidFill>
                <a:latin typeface="Times New Roman" panose="02020603050405020304" pitchFamily="18" charset="0"/>
                <a:ea typeface="华文新魏" panose="02010800040101010101" charset="-122"/>
                <a:sym typeface="+mn-ea"/>
              </a:rPr>
              <a:t> </a:t>
            </a:r>
            <a:r>
              <a:rPr kumimoji="1" lang="en-US" altLang="zh-CN" sz="1400" i="1" dirty="0">
                <a:solidFill>
                  <a:srgbClr val="008000"/>
                </a:solidFill>
                <a:latin typeface="Times New Roman" panose="02020603050405020304" pitchFamily="18" charset="0"/>
                <a:ea typeface="华文新魏" panose="02010800040101010101" charset="-122"/>
                <a:sym typeface="+mn-ea"/>
              </a:rPr>
              <a:t>Rev. B </a:t>
            </a:r>
            <a:r>
              <a:rPr kumimoji="1" lang="en-US" altLang="zh-CN" sz="1400" b="1" dirty="0">
                <a:solidFill>
                  <a:srgbClr val="008000"/>
                </a:solidFill>
                <a:latin typeface="Times New Roman" panose="02020603050405020304" pitchFamily="18" charset="0"/>
                <a:ea typeface="华文新魏" panose="02010800040101010101" charset="-122"/>
                <a:sym typeface="+mn-ea"/>
              </a:rPr>
              <a:t>105</a:t>
            </a:r>
            <a:r>
              <a:rPr kumimoji="1" lang="en-US" altLang="zh-CN" sz="1400" dirty="0">
                <a:solidFill>
                  <a:srgbClr val="008000"/>
                </a:solidFill>
                <a:latin typeface="Times New Roman" panose="02020603050405020304" pitchFamily="18" charset="0"/>
                <a:ea typeface="华文新魏" panose="02010800040101010101" charset="-122"/>
                <a:sym typeface="+mn-ea"/>
              </a:rPr>
              <a:t>, 024503 (2022)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冬青黑体简体中文 W3" panose="020B0300000000000000" pitchFamily="34" charset="-122"/>
                <a:cs typeface="Times New Roman" panose="02020603050405020304" pitchFamily="18" charset="0"/>
                <a:sym typeface="+mn-ea"/>
              </a:rPr>
              <a:t>Law K T, Lee P A, Ng T K. Majorana fermion induced resonant Andreev reflection[J]. Physical review letters, 2009, 103(23): 237001.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冬青黑体简体中文 W3" panose="020B0300000000000000" pitchFamily="34" charset="-122"/>
                <a:cs typeface="Times New Roman" panose="02020603050405020304" pitchFamily="18" charset="0"/>
                <a:sym typeface="+mn-ea"/>
              </a:rPr>
              <a:t>Nilsson J, Akhmerov A R, Beenakker C W J. Splitting of a Cooper pair by a pair of Majorana bound states[J]. Physical review letters, 2008, 101(12): 120403.</a:t>
            </a:r>
          </a:p>
        </p:txBody>
      </p:sp>
      <p:pic>
        <p:nvPicPr>
          <p:cNvPr id="101" name="图片 100"/>
          <p:cNvPicPr/>
          <p:nvPr/>
        </p:nvPicPr>
        <p:blipFill>
          <a:blip r:embed="rId9"/>
          <a:stretch>
            <a:fillRect/>
          </a:stretch>
        </p:blipFill>
        <p:spPr>
          <a:xfrm>
            <a:off x="430530" y="3429000"/>
            <a:ext cx="3801110" cy="1123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1018540" y="1067435"/>
            <a:ext cx="6096000" cy="398780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latin typeface="Calibri" panose="020F0502020204030204" charset="0"/>
                <a:ea typeface="冬青黑体简体中文 W3" panose="020B0300000000000000" pitchFamily="34" charset="-122"/>
                <a:cs typeface="Calibri" panose="020F0502020204030204" charset="0"/>
              </a:rPr>
              <a:t>Transportation process of Majorana</a:t>
            </a:r>
          </a:p>
        </p:txBody>
      </p:sp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451985" y="1654175"/>
          <a:ext cx="151701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r:id="rId10" imgW="825500" imgH="215900" progId="Equation.KSEE3">
                  <p:embed/>
                </p:oleObj>
              </mc:Choice>
              <mc:Fallback>
                <p:oleObj r:id="rId10" imgW="8255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451985" y="1654175"/>
                        <a:ext cx="151701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579620" y="2239010"/>
          <a:ext cx="804545" cy="398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r:id="rId12" imgW="405765" imgH="228600" progId="Equation.KSEE3">
                  <p:embed/>
                </p:oleObj>
              </mc:Choice>
              <mc:Fallback>
                <p:oleObj r:id="rId12" imgW="405765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579620" y="2239010"/>
                        <a:ext cx="804545" cy="3987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" name="图片 101"/>
          <p:cNvPicPr/>
          <p:nvPr/>
        </p:nvPicPr>
        <p:blipFill>
          <a:blip r:embed="rId14"/>
          <a:stretch>
            <a:fillRect/>
          </a:stretch>
        </p:blipFill>
        <p:spPr>
          <a:xfrm>
            <a:off x="7114540" y="1334135"/>
            <a:ext cx="3220085" cy="1514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图片 102"/>
          <p:cNvPicPr/>
          <p:nvPr/>
        </p:nvPicPr>
        <p:blipFill>
          <a:blip r:embed="rId15"/>
          <a:stretch>
            <a:fillRect/>
          </a:stretch>
        </p:blipFill>
        <p:spPr>
          <a:xfrm>
            <a:off x="6390005" y="3147695"/>
            <a:ext cx="5553075" cy="1704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文本框 13"/>
          <p:cNvSpPr txBox="1"/>
          <p:nvPr/>
        </p:nvSpPr>
        <p:spPr>
          <a:xfrm>
            <a:off x="6999605" y="4919345"/>
            <a:ext cx="4537710" cy="70675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冬青黑体简体中文 W3" panose="020B0300000000000000" pitchFamily="34" charset="-122"/>
                <a:cs typeface="Calibri" panose="020F0502020204030204" charset="0"/>
              </a:rPr>
              <a:t>an MBS/QMBS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冬青黑体简体中文 W3" panose="020B0300000000000000" pitchFamily="34" charset="-122"/>
                <a:cs typeface="Calibri" panose="020F0502020204030204" charset="0"/>
              </a:rPr>
              <a:t> 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冬青黑体简体中文 W3" panose="020B0300000000000000" pitchFamily="34" charset="-122"/>
                <a:cs typeface="Calibri" panose="020F0502020204030204" charset="0"/>
              </a:rPr>
              <a:t>(a zero-bias dip) and ABS (a zero-bias peak)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冬青黑体简体中文 W3" panose="020B0300000000000000" pitchFamily="34" charset="-122"/>
                <a:cs typeface="Calibri" panose="020F0502020204030204" charset="0"/>
              </a:rPr>
              <a:t> in current shot noise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文本框 222"/>
          <p:cNvSpPr txBox="1"/>
          <p:nvPr/>
        </p:nvSpPr>
        <p:spPr>
          <a:xfrm>
            <a:off x="1018540" y="213360"/>
            <a:ext cx="9782175" cy="97726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3200" dirty="0">
                <a:solidFill>
                  <a:srgbClr val="8B0012"/>
                </a:solidFill>
                <a:latin typeface="Century Gothic" panose="020B0502020202020204" pitchFamily="34" charset="0"/>
                <a:ea typeface="微软雅黑" panose="020B0503020204020204" pitchFamily="34" charset="-122"/>
              </a:rPr>
              <a:t>S-matrix method for judging if Jackiw rebbi modes can be used for braiding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54050" y="5191125"/>
                <a:ext cx="4178935" cy="2877820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2∆</m:t>
                    </m:r>
                  </m:oMath>
                </a14:m>
                <a:r>
                  <a:rPr lang="en-US" altLang="zh-CN" sz="200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 panose="020F0502020204030204" charset="0"/>
                    <a:ea typeface="冬青黑体简体中文 W3" panose="020B0300000000000000" pitchFamily="34" charset="-122"/>
                    <a:cs typeface="Calibri" panose="020F0502020204030204" charset="0"/>
                  </a:rPr>
                  <a:t>  are </a:t>
                </a:r>
                <a:r>
                  <a:rPr lang="en-US" altLang="zh-CN" sz="200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冬青黑体简体中文 W3" panose="020B0300000000000000" pitchFamily="34" charset="-122"/>
                    <a:ea typeface="冬青黑体简体中文 W3" panose="020B0300000000000000" pitchFamily="34" charset="-122"/>
                  </a:rPr>
                  <a:t>the energy difference between two Jackiw-Rebbi zero-modes 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654050" y="5191125"/>
                <a:ext cx="4178935" cy="2877820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4" name="图片 103"/>
          <p:cNvPicPr/>
          <p:nvPr/>
        </p:nvPicPr>
        <p:blipFill>
          <a:blip r:embed="rId15"/>
          <a:stretch>
            <a:fillRect/>
          </a:stretch>
        </p:blipFill>
        <p:spPr>
          <a:xfrm>
            <a:off x="1780540" y="1417955"/>
            <a:ext cx="4180840" cy="1000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654050" y="2544445"/>
            <a:ext cx="3475355" cy="101219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ea typeface="冬青黑体简体中文 W3" panose="020B0300000000000000" pitchFamily="34" charset="-122"/>
                <a:cs typeface="Calibri" panose="020F0502020204030204" charset="0"/>
              </a:rPr>
              <a:t>Two Jackiw-Rebbi modes exists at the edge of the SSH chain</a:t>
            </a:r>
            <a:r>
              <a: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  </a:t>
            </a:r>
          </a:p>
        </p:txBody>
      </p:sp>
      <p:pic>
        <p:nvPicPr>
          <p:cNvPr id="12" name="图片 11" descr="梯形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16980" y="1491615"/>
            <a:ext cx="1028700" cy="75247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464300" y="1711325"/>
            <a:ext cx="733425" cy="33718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Calibri" panose="020F0502020204030204" charset="0"/>
                <a:ea typeface="冬青黑体简体中文 W3" panose="020B0300000000000000" pitchFamily="34" charset="-122"/>
                <a:cs typeface="Calibri" panose="020F0502020204030204" charset="0"/>
              </a:rPr>
              <a:t>lead 2</a:t>
            </a:r>
          </a:p>
        </p:txBody>
      </p:sp>
      <p:pic>
        <p:nvPicPr>
          <p:cNvPr id="18" name="图片 17" descr="梯形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494665" y="1491615"/>
            <a:ext cx="1019810" cy="75247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654050" y="1711325"/>
            <a:ext cx="733425" cy="33718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Calibri" panose="020F0502020204030204" charset="0"/>
                <a:ea typeface="冬青黑体简体中文 W3" panose="020B0300000000000000" pitchFamily="34" charset="-122"/>
                <a:cs typeface="Calibri" panose="020F0502020204030204" charset="0"/>
              </a:rPr>
              <a:t>lead 1</a:t>
            </a:r>
          </a:p>
        </p:txBody>
      </p:sp>
      <p:cxnSp>
        <p:nvCxnSpPr>
          <p:cNvPr id="20" name="直接连接符 19"/>
          <p:cNvCxnSpPr>
            <a:stCxn id="18" idx="1"/>
          </p:cNvCxnSpPr>
          <p:nvPr/>
        </p:nvCxnSpPr>
        <p:spPr>
          <a:xfrm flipV="1">
            <a:off x="1514475" y="1856740"/>
            <a:ext cx="460375" cy="10795"/>
          </a:xfrm>
          <a:prstGeom prst="line">
            <a:avLst/>
          </a:prstGeom>
          <a:ln w="31750" cap="rnd">
            <a:solidFill>
              <a:srgbClr val="FF0000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>
            <p:custDataLst>
              <p:tags r:id="rId6"/>
            </p:custDataLst>
          </p:nvPr>
        </p:nvCxnSpPr>
        <p:spPr>
          <a:xfrm flipV="1">
            <a:off x="5856605" y="1889760"/>
            <a:ext cx="460375" cy="10795"/>
          </a:xfrm>
          <a:prstGeom prst="line">
            <a:avLst/>
          </a:prstGeom>
          <a:ln w="31750" cap="rnd">
            <a:solidFill>
              <a:srgbClr val="FF0000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2305050" y="1343025"/>
            <a:ext cx="1133475" cy="285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4" name="对象 2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602105" y="1417320"/>
          <a:ext cx="28448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r:id="rId18" imgW="127000" imgH="215900" progId="Equation.KSEE3">
                  <p:embed/>
                </p:oleObj>
              </mc:Choice>
              <mc:Fallback>
                <p:oleObj r:id="rId18" imgW="127000" imgH="2159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602105" y="1417320"/>
                        <a:ext cx="284480" cy="409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5946458" y="1417320"/>
          <a:ext cx="3143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r:id="rId20" imgW="139700" imgH="215900" progId="Equation.KSEE3">
                  <p:embed/>
                </p:oleObj>
              </mc:Choice>
              <mc:Fallback>
                <p:oleObj r:id="rId20" imgW="139700" imgH="2159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946458" y="1417320"/>
                        <a:ext cx="314325" cy="409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5" name="图片 104"/>
          <p:cNvPicPr/>
          <p:nvPr/>
        </p:nvPicPr>
        <p:blipFill>
          <a:blip r:embed="rId22"/>
          <a:stretch>
            <a:fillRect/>
          </a:stretch>
        </p:blipFill>
        <p:spPr>
          <a:xfrm>
            <a:off x="654050" y="3362008"/>
            <a:ext cx="3810000" cy="523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" name="图片 105"/>
          <p:cNvPicPr/>
          <p:nvPr/>
        </p:nvPicPr>
        <p:blipFill>
          <a:blip r:embed="rId23"/>
          <a:stretch>
            <a:fillRect/>
          </a:stretch>
        </p:blipFill>
        <p:spPr>
          <a:xfrm>
            <a:off x="710883" y="3904933"/>
            <a:ext cx="3514725" cy="428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" name="图片 106"/>
          <p:cNvPicPr/>
          <p:nvPr/>
        </p:nvPicPr>
        <p:blipFill>
          <a:blip r:embed="rId24"/>
          <a:stretch>
            <a:fillRect/>
          </a:stretch>
        </p:blipFill>
        <p:spPr>
          <a:xfrm>
            <a:off x="777558" y="4352608"/>
            <a:ext cx="3667125" cy="371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8" name="图片 107"/>
          <p:cNvPicPr/>
          <p:nvPr/>
        </p:nvPicPr>
        <p:blipFill>
          <a:blip r:embed="rId25"/>
          <a:stretch>
            <a:fillRect/>
          </a:stretch>
        </p:blipFill>
        <p:spPr>
          <a:xfrm>
            <a:off x="710883" y="4743450"/>
            <a:ext cx="3190875" cy="361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" name="图片 109"/>
          <p:cNvPicPr/>
          <p:nvPr/>
        </p:nvPicPr>
        <p:blipFill>
          <a:blip r:embed="rId26"/>
          <a:stretch>
            <a:fillRect/>
          </a:stretch>
        </p:blipFill>
        <p:spPr>
          <a:xfrm>
            <a:off x="7748588" y="1249680"/>
            <a:ext cx="4086225" cy="1123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1" name="图片 110"/>
          <p:cNvPicPr/>
          <p:nvPr/>
        </p:nvPicPr>
        <p:blipFill>
          <a:blip r:embed="rId27"/>
          <a:stretch>
            <a:fillRect/>
          </a:stretch>
        </p:blipFill>
        <p:spPr>
          <a:xfrm>
            <a:off x="4076065" y="2867660"/>
            <a:ext cx="368935" cy="4375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" name="图片 111"/>
          <p:cNvPicPr/>
          <p:nvPr/>
        </p:nvPicPr>
        <p:blipFill>
          <a:blip r:embed="rId28"/>
          <a:stretch>
            <a:fillRect/>
          </a:stretch>
        </p:blipFill>
        <p:spPr>
          <a:xfrm>
            <a:off x="4368165" y="2645410"/>
            <a:ext cx="7824470" cy="9264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" name="图片 112"/>
          <p:cNvPicPr/>
          <p:nvPr/>
        </p:nvPicPr>
        <p:blipFill>
          <a:blip r:embed="rId29"/>
          <a:stretch>
            <a:fillRect/>
          </a:stretch>
        </p:blipFill>
        <p:spPr>
          <a:xfrm>
            <a:off x="10699750" y="3456305"/>
            <a:ext cx="1305560" cy="481965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5236210" y="4053205"/>
                <a:ext cx="2249170" cy="411480"/>
              </a:xfrm>
              <a:prstGeom prst="rect">
                <a:avLst/>
              </a:prstGeom>
            </p:spPr>
            <p:txBody>
              <a:bodyPr wrap="square" rtlCol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𝑇</m:t>
                    </m:r>
                    <m:r>
                      <a:rPr lang="en-US" altLang="zh-CN" sz="200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00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𝐸</m:t>
                    </m:r>
                    <m:r>
                      <a:rPr lang="en-US" altLang="zh-CN" sz="2000" i="1" smtClean="0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 = </m:t>
                    </m:r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000" i="1" smtClean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smtClean="0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000" i="1" smtClean="0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</a:rPr>
                              <m:t>12</m:t>
                            </m:r>
                          </m:sub>
                        </m:sSub>
                        <m:r>
                          <a:rPr lang="en-US" altLang="zh-CN" sz="2000" i="1" smtClean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|</m:t>
                        </m:r>
                      </m:e>
                      <m:sup>
                        <m:r>
                          <a:rPr lang="en-US" altLang="zh-CN" sz="2000" i="1" smtClean="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rPr>
                  <a:t> </a:t>
                </a:r>
                <a:r>
                  <a:rPr lang="en-US" altLang="zh-CN" sz="2000">
                    <a:latin typeface="Calibri" panose="020F0502020204030204" charset="0"/>
                    <a:ea typeface="MS Mincho" panose="02020609040205080304" charset="-128"/>
                    <a:cs typeface="Calibri" panose="020F0502020204030204" charset="0"/>
                  </a:rPr>
                  <a:t>=</a:t>
                </a:r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210" y="4053205"/>
                <a:ext cx="2249170" cy="411480"/>
              </a:xfrm>
              <a:prstGeom prst="rect">
                <a:avLst/>
              </a:prstGeom>
              <a:blipFill rotWithShape="1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图片 2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7345680" y="3938270"/>
            <a:ext cx="4012565" cy="791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/>
              <p:cNvSpPr txBox="1"/>
              <p:nvPr/>
            </p:nvSpPr>
            <p:spPr>
              <a:xfrm>
                <a:off x="8499411" y="5810186"/>
                <a:ext cx="1045210" cy="398780"/>
              </a:xfrm>
              <a:prstGeom prst="rect">
                <a:avLst/>
              </a:prstGeom>
            </p:spPr>
            <p:txBody>
              <a:bodyPr wrap="non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冬青黑体简体中文 W3" panose="020B0300000000000000" pitchFamily="3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charset="0"/>
                              <a:ea typeface="冬青黑体简体中文 W3" panose="020B0300000000000000" pitchFamily="34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11 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 = 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ea typeface="冬青黑体简体中文 W3" panose="020B0300000000000000" pitchFamily="34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9411" y="5810186"/>
                <a:ext cx="1045210" cy="398780"/>
              </a:xfrm>
              <a:prstGeom prst="rect">
                <a:avLst/>
              </a:prstGeom>
              <a:blipFill rotWithShape="1">
                <a:blip r:embed="rId32"/>
                <a:stretch>
                  <a:fillRect l="-55" t="-143" r="55" b="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4" name="图片 113"/>
          <p:cNvPicPr/>
          <p:nvPr/>
        </p:nvPicPr>
        <p:blipFill>
          <a:blip r:embed="rId33"/>
          <a:stretch>
            <a:fillRect/>
          </a:stretch>
        </p:blipFill>
        <p:spPr>
          <a:xfrm>
            <a:off x="9333230" y="5657215"/>
            <a:ext cx="1133475" cy="609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5" name="图片 114"/>
          <p:cNvPicPr/>
          <p:nvPr/>
        </p:nvPicPr>
        <p:blipFill>
          <a:blip r:embed="rId34"/>
          <a:stretch>
            <a:fillRect/>
          </a:stretch>
        </p:blipFill>
        <p:spPr>
          <a:xfrm>
            <a:off x="10314305" y="5676265"/>
            <a:ext cx="1809750" cy="590550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727511" y="5867971"/>
                <a:ext cx="1045210" cy="398780"/>
              </a:xfrm>
              <a:prstGeom prst="rect">
                <a:avLst/>
              </a:prstGeom>
            </p:spPr>
            <p:txBody>
              <a:bodyPr wrap="non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冬青黑体简体中文 W3" panose="020B0300000000000000" pitchFamily="3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charset="0"/>
                              <a:ea typeface="冬青黑体简体中文 W3" panose="020B0300000000000000" pitchFamily="34" charset="-122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12 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 = 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ea typeface="冬青黑体简体中文 W3" panose="020B0300000000000000" pitchFamily="34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5"/>
                </p:custDataLst>
              </p:nvPr>
            </p:nvSpPr>
            <p:spPr>
              <a:xfrm>
                <a:off x="4727511" y="5867971"/>
                <a:ext cx="1045210" cy="398780"/>
              </a:xfrm>
              <a:prstGeom prst="rect">
                <a:avLst/>
              </a:prstGeom>
              <a:blipFill rotWithShape="1">
                <a:blip r:embed="rId36"/>
                <a:stretch>
                  <a:fillRect l="-55" t="-143" r="55" b="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6" name="图片 115"/>
          <p:cNvPicPr/>
          <p:nvPr/>
        </p:nvPicPr>
        <p:blipFill>
          <a:blip r:embed="rId37"/>
          <a:stretch>
            <a:fillRect/>
          </a:stretch>
        </p:blipFill>
        <p:spPr>
          <a:xfrm>
            <a:off x="5708333" y="5767705"/>
            <a:ext cx="1038225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7" name="图片 116"/>
          <p:cNvPicPr/>
          <p:nvPr/>
        </p:nvPicPr>
        <p:blipFill>
          <a:blip r:embed="rId38"/>
          <a:stretch>
            <a:fillRect/>
          </a:stretch>
        </p:blipFill>
        <p:spPr>
          <a:xfrm>
            <a:off x="6537325" y="5809933"/>
            <a:ext cx="1962150" cy="542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8" name="图片 117"/>
          <p:cNvPicPr/>
          <p:nvPr/>
        </p:nvPicPr>
        <p:blipFill>
          <a:blip r:embed="rId39"/>
          <a:stretch>
            <a:fillRect/>
          </a:stretch>
        </p:blipFill>
        <p:spPr>
          <a:xfrm>
            <a:off x="5179060" y="4811395"/>
            <a:ext cx="3248025" cy="716280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305050" y="1781175"/>
                <a:ext cx="464185" cy="398780"/>
              </a:xfrm>
              <a:prstGeom prst="rect">
                <a:avLst/>
              </a:prstGeom>
            </p:spPr>
            <p:txBody>
              <a:bodyPr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solidFill>
                            <a:srgbClr val="3D3630"/>
                          </a:solidFill>
                          <a:latin typeface="Cambria Math" panose="02040503050406030204" charset="0"/>
                          <a:ea typeface="冬青黑体简体中文 W3" panose="020B0300000000000000" pitchFamily="34" charset="-122"/>
                          <a:cs typeface="Cambria Math" panose="02040503050406030204" charset="0"/>
                        </a:rPr>
                        <m:t>𝑣</m:t>
                      </m:r>
                    </m:oMath>
                  </m:oMathPara>
                </a14:m>
                <a:endParaRPr lang="en-US" altLang="zh-CN" sz="2000" i="1">
                  <a:solidFill>
                    <a:srgbClr val="3D3630"/>
                  </a:solidFill>
                  <a:latin typeface="Cambria Math" panose="02040503050406030204" charset="0"/>
                  <a:ea typeface="冬青黑体简体中文 W3" panose="020B0300000000000000" pitchFamily="34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5050" y="1781175"/>
                <a:ext cx="464185" cy="398780"/>
              </a:xfrm>
              <a:prstGeom prst="rect">
                <a:avLst/>
              </a:prstGeom>
              <a:blipFill rotWithShape="1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>
            <p:custDataLst>
              <p:tags r:id="rId10"/>
            </p:custDataLst>
          </p:nvPr>
        </p:nvSpPr>
        <p:spPr>
          <a:xfrm>
            <a:off x="2974340" y="1781175"/>
            <a:ext cx="464185" cy="398780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2000" i="1">
                <a:solidFill>
                  <a:srgbClr val="3D3630"/>
                </a:solidFill>
                <a:latin typeface="Cambria Math" panose="02040503050406030204" charset="0"/>
                <a:ea typeface="冬青黑体简体中文 W3" panose="020B0300000000000000" pitchFamily="34" charset="-122"/>
                <a:cs typeface="Cambria Math" panose="02040503050406030204" charset="0"/>
              </a:rPr>
              <a:t>w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文本框 222"/>
          <p:cNvSpPr txBox="1"/>
          <p:nvPr/>
        </p:nvSpPr>
        <p:spPr>
          <a:xfrm>
            <a:off x="1018540" y="213360"/>
            <a:ext cx="9782175" cy="97726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3200" dirty="0">
                <a:solidFill>
                  <a:srgbClr val="8B0012"/>
                </a:solidFill>
                <a:latin typeface="Century Gothic" panose="020B0502020202020204" pitchFamily="34" charset="0"/>
                <a:ea typeface="微软雅黑" panose="020B0503020204020204" pitchFamily="34" charset="-122"/>
              </a:rPr>
              <a:t>S-matrix method for judging if Jackiw rebbi modes can be used for braiding</a:t>
            </a:r>
          </a:p>
        </p:txBody>
      </p:sp>
      <p:pic>
        <p:nvPicPr>
          <p:cNvPr id="101" name="图片 100"/>
          <p:cNvPicPr/>
          <p:nvPr/>
        </p:nvPicPr>
        <p:blipFill>
          <a:blip r:embed="rId5"/>
          <a:stretch>
            <a:fillRect/>
          </a:stretch>
        </p:blipFill>
        <p:spPr>
          <a:xfrm>
            <a:off x="59690" y="2081530"/>
            <a:ext cx="6036310" cy="4107180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1018540" y="1605280"/>
                <a:ext cx="3475355" cy="1012190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200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 panose="020F0502020204030204" charset="0"/>
                    <a:ea typeface="冬青黑体简体中文 W3" panose="020B0300000000000000" pitchFamily="34" charset="-122"/>
                    <a:cs typeface="Calibri" panose="020F0502020204030204" charset="0"/>
                  </a:rPr>
                  <a:t>Transmission coefficient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𝑇</m:t>
                    </m:r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𝐸</m:t>
                    </m:r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200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冬青黑体简体中文 W3" panose="020B0300000000000000" pitchFamily="34" charset="-122"/>
                    <a:ea typeface="冬青黑体简体中文 W3" panose="020B0300000000000000" pitchFamily="34" charset="-122"/>
                  </a:rPr>
                  <a:t>  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1018540" y="1605280"/>
                <a:ext cx="3475355" cy="101219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" name="图片 101"/>
          <p:cNvPicPr/>
          <p:nvPr/>
        </p:nvPicPr>
        <p:blipFill>
          <a:blip r:embed="rId8"/>
          <a:stretch>
            <a:fillRect/>
          </a:stretch>
        </p:blipFill>
        <p:spPr>
          <a:xfrm>
            <a:off x="6096000" y="2089150"/>
            <a:ext cx="5890895" cy="4166235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872605" y="1605280"/>
                <a:ext cx="3475355" cy="1012190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200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rPr>
                  <a:t>Noise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𝜕</m:t>
                        </m:r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11</m:t>
                        </m:r>
                      </m:sub>
                    </m:sSub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/</m:t>
                    </m:r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𝜕</m:t>
                    </m:r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𝐸</m:t>
                    </m:r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 (</m:t>
                    </m:r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𝐸</m:t>
                    </m:r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200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冬青黑体简体中文 W3" panose="020B0300000000000000" pitchFamily="34" charset="-122"/>
                    <a:ea typeface="冬青黑体简体中文 W3" panose="020B0300000000000000" pitchFamily="34" charset="-122"/>
                  </a:rPr>
                  <a:t>  </a:t>
                </a: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6872605" y="1605280"/>
                <a:ext cx="3475355" cy="101219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文本框 222"/>
          <p:cNvSpPr txBox="1"/>
          <p:nvPr/>
        </p:nvSpPr>
        <p:spPr>
          <a:xfrm>
            <a:off x="1018540" y="213360"/>
            <a:ext cx="9782175" cy="97726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3200" dirty="0">
                <a:solidFill>
                  <a:srgbClr val="8B0012"/>
                </a:solidFill>
                <a:latin typeface="Century Gothic" panose="020B0502020202020204" pitchFamily="34" charset="0"/>
                <a:ea typeface="微软雅黑" panose="020B0503020204020204" pitchFamily="34" charset="-122"/>
              </a:rPr>
              <a:t>S-matrix method for judging if Jackiw rebbi modes can be used for braiding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77875" y="1361440"/>
            <a:ext cx="3475355" cy="37401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ea typeface="冬青黑体简体中文 W3" panose="020B0300000000000000" pitchFamily="34" charset="-122"/>
                <a:cs typeface="Calibri" panose="020F0502020204030204" charset="0"/>
              </a:rPr>
              <a:t>In the Majorana representation</a:t>
            </a:r>
            <a:r>
              <a: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  </a:t>
            </a:r>
          </a:p>
        </p:txBody>
      </p:sp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362200" y="1906270"/>
          <a:ext cx="131445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r:id="rId11" imgW="862965" imgH="419100" progId="Equation.KSEE3">
                  <p:embed/>
                </p:oleObj>
              </mc:Choice>
              <mc:Fallback>
                <p:oleObj r:id="rId11" imgW="862965" imgH="4191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62200" y="1906270"/>
                        <a:ext cx="1314450" cy="63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38850" y="3321050"/>
          <a:ext cx="342265" cy="646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r:id="rId13" imgW="114300" imgH="215900" progId="Equation.KSEE3">
                  <p:embed/>
                </p:oleObj>
              </mc:Choice>
              <mc:Fallback>
                <p:oleObj r:id="rId13" imgW="114300" imgH="215900" progId="Equation.KSEE3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342265" cy="646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307975" y="2620645"/>
          <a:ext cx="413639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r:id="rId15" imgW="2616200" imgH="393700" progId="Equation.KSEE3">
                  <p:embed/>
                </p:oleObj>
              </mc:Choice>
              <mc:Fallback>
                <p:oleObj r:id="rId15" imgW="2616200" imgH="3937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7975" y="2620645"/>
                        <a:ext cx="4136390" cy="600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879158" y="1906270"/>
          <a:ext cx="127698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r:id="rId17" imgW="838200" imgH="419100" progId="Equation.KSEE3">
                  <p:embed/>
                </p:oleObj>
              </mc:Choice>
              <mc:Fallback>
                <p:oleObj r:id="rId17" imgW="838200" imgH="4191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79158" y="1906270"/>
                        <a:ext cx="1276985" cy="63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853555" y="2904490"/>
                <a:ext cx="4310380" cy="878205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lstStyle/>
              <a:p>
                <a:r>
                  <a:rPr lang="en-US" altLang="zh-CN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 panose="020F0502020204030204" charset="0"/>
                    <a:ea typeface="冬青黑体简体中文 W3" panose="020B0300000000000000" pitchFamily="34" charset="-122"/>
                    <a:cs typeface="Calibri" panose="020F050202020403020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∆=0</m:t>
                    </m:r>
                    <m:r>
                      <a:rPr lang="en-US" altLang="zh-CN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，</m:t>
                    </m:r>
                    <m:r>
                      <a:rPr lang="en-US" altLang="zh-CN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en-US" altLang="zh-CN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 panose="020F0502020204030204" charset="0"/>
                    <a:ea typeface="冬青黑体简体中文 W3" panose="020B0300000000000000" pitchFamily="34" charset="-122"/>
                    <a:cs typeface="Calibri" panose="020F0502020204030204" charset="0"/>
                  </a:rPr>
                  <a:t>A pair of Dirac modes decomposes into two majorana modes </a:t>
                </a:r>
              </a:p>
            </p:txBody>
          </p:sp>
        </mc:Choice>
        <mc:Fallback xmlns="">
          <p:sp>
            <p:nvSpPr>
              <p:cNvPr id="55" name="文本框 5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6853555" y="2904490"/>
                <a:ext cx="4310380" cy="878205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1" name="图片 120"/>
          <p:cNvPicPr/>
          <p:nvPr/>
        </p:nvPicPr>
        <p:blipFill>
          <a:blip r:embed="rId21"/>
          <a:stretch>
            <a:fillRect/>
          </a:stretch>
        </p:blipFill>
        <p:spPr>
          <a:xfrm>
            <a:off x="160655" y="3914140"/>
            <a:ext cx="6220460" cy="14776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6" name="图片 55"/>
          <p:cNvPicPr/>
          <p:nvPr>
            <p:custDataLst>
              <p:tags r:id="rId7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241618" y="3447733"/>
            <a:ext cx="3514725" cy="428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" name="图片 121"/>
          <p:cNvPicPr/>
          <p:nvPr/>
        </p:nvPicPr>
        <p:blipFill>
          <a:blip r:embed="rId23"/>
          <a:stretch>
            <a:fillRect/>
          </a:stretch>
        </p:blipFill>
        <p:spPr>
          <a:xfrm>
            <a:off x="6562090" y="1361440"/>
            <a:ext cx="4238625" cy="1543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" name="文本框 56"/>
          <p:cNvSpPr txBox="1"/>
          <p:nvPr>
            <p:custDataLst>
              <p:tags r:id="rId8"/>
            </p:custDataLst>
          </p:nvPr>
        </p:nvSpPr>
        <p:spPr>
          <a:xfrm>
            <a:off x="6853555" y="3876675"/>
            <a:ext cx="4310380" cy="87820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 the electron-hole representation</a:t>
            </a:r>
          </a:p>
        </p:txBody>
      </p:sp>
      <p:pic>
        <p:nvPicPr>
          <p:cNvPr id="123" name="图片 122"/>
          <p:cNvPicPr/>
          <p:nvPr/>
        </p:nvPicPr>
        <p:blipFill>
          <a:blip r:embed="rId24"/>
          <a:stretch>
            <a:fillRect/>
          </a:stretch>
        </p:blipFill>
        <p:spPr>
          <a:xfrm>
            <a:off x="6763703" y="4257993"/>
            <a:ext cx="1514475" cy="113347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8" name="对象 5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278495" y="4712335"/>
          <a:ext cx="281940" cy="22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r:id="rId25" imgW="127000" imgH="101600" progId="Equation.KSEE3">
                  <p:embed/>
                </p:oleObj>
              </mc:Choice>
              <mc:Fallback>
                <p:oleObj r:id="rId25" imgW="127000" imgH="101600" progId="Equation.KSEE3">
                  <p:embed/>
                  <p:pic>
                    <p:nvPicPr>
                      <p:cNvPr id="0" name="图片 307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278495" y="4712335"/>
                        <a:ext cx="281940" cy="225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/>
              <p:cNvSpPr txBox="1"/>
              <p:nvPr/>
            </p:nvSpPr>
            <p:spPr>
              <a:xfrm>
                <a:off x="8385175" y="4625975"/>
                <a:ext cx="898525" cy="398780"/>
              </a:xfrm>
              <a:prstGeom prst="rect">
                <a:avLst/>
              </a:prstGeom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charset="0"/>
                          <a:ea typeface="冬青黑体简体中文 W3" panose="020B0300000000000000" pitchFamily="34" charset="-122"/>
                          <a:cs typeface="Cambria Math" panose="02040503050406030204" charset="0"/>
                        </a:rPr>
                        <m:t>𝑆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ea typeface="冬青黑体简体中文 W3" panose="020B0300000000000000" pitchFamily="34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9" name="文本框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5175" y="4625975"/>
                <a:ext cx="898525" cy="398780"/>
              </a:xfrm>
              <a:prstGeom prst="rect">
                <a:avLst/>
              </a:prstGeom>
              <a:blipFill rotWithShape="1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4" name="图片 123"/>
          <p:cNvPicPr/>
          <p:nvPr/>
        </p:nvPicPr>
        <p:blipFill>
          <a:blip r:embed="rId28"/>
          <a:stretch>
            <a:fillRect/>
          </a:stretch>
        </p:blipFill>
        <p:spPr>
          <a:xfrm>
            <a:off x="8905875" y="4257993"/>
            <a:ext cx="1600200" cy="1133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文本框 222"/>
          <p:cNvSpPr txBox="1"/>
          <p:nvPr/>
        </p:nvSpPr>
        <p:spPr>
          <a:xfrm>
            <a:off x="1018540" y="213360"/>
            <a:ext cx="9782175" cy="97726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3200" dirty="0">
                <a:solidFill>
                  <a:srgbClr val="8B0012"/>
                </a:solidFill>
                <a:latin typeface="Century Gothic" panose="020B0502020202020204" pitchFamily="34" charset="0"/>
                <a:ea typeface="微软雅黑" panose="020B0503020204020204" pitchFamily="34" charset="-122"/>
              </a:rPr>
              <a:t>S-matrix method for judging if Jackiw rebbi modes can be used for braiding</a:t>
            </a:r>
          </a:p>
        </p:txBody>
      </p:sp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38850" y="3321050"/>
          <a:ext cx="342265" cy="646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r:id="rId9" imgW="114300" imgH="215900" progId="Equation.KSEE3">
                  <p:embed/>
                </p:oleObj>
              </mc:Choice>
              <mc:Fallback>
                <p:oleObj r:id="rId9" imgW="114300" imgH="215900" progId="Equation.KSEE3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342265" cy="646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77875" y="1361440"/>
            <a:ext cx="5603240" cy="37401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ea typeface="冬青黑体简体中文 W3" panose="020B0300000000000000" pitchFamily="34" charset="-122"/>
                <a:cs typeface="Calibri" panose="020F0502020204030204" charset="0"/>
              </a:rPr>
              <a:t>A  pair of Majorana transport process</a:t>
            </a:r>
            <a:r>
              <a: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860361" y="2462466"/>
                <a:ext cx="761365" cy="398780"/>
              </a:xfrm>
              <a:prstGeom prst="rect">
                <a:avLst/>
              </a:prstGeom>
            </p:spPr>
            <p:txBody>
              <a:bodyPr wrap="non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charset="0"/>
                          <a:ea typeface="冬青黑体简体中文 W3" panose="020B0300000000000000" pitchFamily="34" charset="-122"/>
                          <a:cs typeface="Cambria Math" panose="02040503050406030204" charset="0"/>
                        </a:rPr>
                        <m:t>𝑆</m:t>
                      </m:r>
                      <m:r>
                        <a:rPr lang="en-US" altLang="zh-CN" sz="2000" i="1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 =</m:t>
                      </m:r>
                      <m:r>
                        <a:rPr lang="en-US" altLang="zh-CN" sz="2000" i="1" smtClean="0">
                          <a:solidFill>
                            <a:srgbClr val="0170D1"/>
                          </a:solidFill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 </m:t>
                      </m:r>
                    </m:oMath>
                  </m:oMathPara>
                </a14:m>
                <a:endParaRPr lang="zh-CN" altLang="en-US" sz="2000">
                  <a:solidFill>
                    <a:srgbClr val="0170D1"/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361" y="2462466"/>
                <a:ext cx="761365" cy="398780"/>
              </a:xfrm>
              <a:prstGeom prst="rect">
                <a:avLst/>
              </a:prstGeom>
              <a:blipFill rotWithShape="1">
                <a:blip r:embed="rId11"/>
                <a:stretch>
                  <a:fillRect l="-75" t="-143" r="-4596" b="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6" name="图片 125"/>
          <p:cNvPicPr/>
          <p:nvPr/>
        </p:nvPicPr>
        <p:blipFill>
          <a:blip r:embed="rId12"/>
          <a:stretch>
            <a:fillRect/>
          </a:stretch>
        </p:blipFill>
        <p:spPr>
          <a:xfrm>
            <a:off x="1547495" y="1906270"/>
            <a:ext cx="8934450" cy="150495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860108" y="1896110"/>
          <a:ext cx="658495" cy="348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r:id="rId13" imgW="431800" imgH="228600" progId="Equation.KSEE3">
                  <p:embed/>
                </p:oleObj>
              </mc:Choice>
              <mc:Fallback>
                <p:oleObj r:id="rId13" imgW="431800" imgH="2286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60108" y="1896110"/>
                        <a:ext cx="658495" cy="348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547495" y="1899285"/>
            <a:ext cx="1304290" cy="3987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zh-CN" sz="2000" i="1">
                <a:latin typeface="Calibri" panose="020F0502020204030204" charset="0"/>
                <a:ea typeface="冬青黑体简体中文 W3" panose="020B0300000000000000" pitchFamily="34" charset="-122"/>
                <a:cs typeface="Calibri" panose="020F0502020204030204" charset="0"/>
              </a:rPr>
              <a:t>channel</a:t>
            </a:r>
          </a:p>
        </p:txBody>
      </p:sp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860108" y="3832860"/>
          <a:ext cx="658495" cy="348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r:id="rId15" imgW="431800" imgH="228600" progId="Equation.KSEE3">
                  <p:embed/>
                </p:oleObj>
              </mc:Choice>
              <mc:Fallback>
                <p:oleObj r:id="rId15" imgW="431800" imgH="2286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60108" y="3832860"/>
                        <a:ext cx="658495" cy="348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1518920" y="3832860"/>
            <a:ext cx="1304290" cy="3987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zh-CN" sz="2000" i="1">
                <a:latin typeface="Calibri" panose="020F0502020204030204" charset="0"/>
                <a:ea typeface="冬青黑体简体中文 W3" panose="020B0300000000000000" pitchFamily="34" charset="-122"/>
                <a:cs typeface="Calibri" panose="020F0502020204030204" charset="0"/>
              </a:rPr>
              <a:t>channel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920686" y="4818316"/>
                <a:ext cx="761365" cy="398780"/>
              </a:xfrm>
              <a:prstGeom prst="rect">
                <a:avLst/>
              </a:prstGeom>
            </p:spPr>
            <p:txBody>
              <a:bodyPr wrap="non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charset="0"/>
                          <a:ea typeface="冬青黑体简体中文 W3" panose="020B0300000000000000" pitchFamily="34" charset="-122"/>
                          <a:cs typeface="Cambria Math" panose="02040503050406030204" charset="0"/>
                        </a:rPr>
                        <m:t>𝑆</m:t>
                      </m:r>
                      <m:r>
                        <a:rPr lang="en-US" altLang="zh-CN" sz="2000" i="1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 =</m:t>
                      </m:r>
                      <m:r>
                        <a:rPr lang="en-US" altLang="zh-CN" sz="2000" i="1" smtClean="0">
                          <a:solidFill>
                            <a:srgbClr val="0170D1"/>
                          </a:solidFill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 </m:t>
                      </m:r>
                    </m:oMath>
                  </m:oMathPara>
                </a14:m>
                <a:endParaRPr lang="zh-CN" altLang="en-US" sz="2000">
                  <a:solidFill>
                    <a:srgbClr val="0170D1"/>
                  </a:solidFill>
                  <a:latin typeface="冬青黑体简体中文 W3" panose="020B0300000000000000" pitchFamily="34" charset="-122"/>
                  <a:ea typeface="冬青黑体简体中文 W3" panose="020B0300000000000000" pitchFamily="34" charset="-122"/>
                </a:endParaRPr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920686" y="4818316"/>
                <a:ext cx="761365" cy="398780"/>
              </a:xfrm>
              <a:prstGeom prst="rect">
                <a:avLst/>
              </a:prstGeom>
              <a:blipFill rotWithShape="1">
                <a:blip r:embed="rId11"/>
                <a:stretch>
                  <a:fillRect l="-75" t="-143" r="-4596" b="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7" name="图片 126"/>
          <p:cNvPicPr/>
          <p:nvPr/>
        </p:nvPicPr>
        <p:blipFill>
          <a:blip r:embed="rId18"/>
          <a:stretch>
            <a:fillRect/>
          </a:stretch>
        </p:blipFill>
        <p:spPr>
          <a:xfrm>
            <a:off x="1621473" y="4231640"/>
            <a:ext cx="8905875" cy="1485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8" name="图片 127"/>
          <p:cNvPicPr/>
          <p:nvPr/>
        </p:nvPicPr>
        <p:blipFill>
          <a:blip r:embed="rId19"/>
          <a:stretch>
            <a:fillRect/>
          </a:stretch>
        </p:blipFill>
        <p:spPr>
          <a:xfrm>
            <a:off x="860108" y="5981700"/>
            <a:ext cx="1857375" cy="438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9" name="图片 128"/>
          <p:cNvPicPr/>
          <p:nvPr/>
        </p:nvPicPr>
        <p:blipFill>
          <a:blip r:embed="rId20"/>
          <a:stretch>
            <a:fillRect/>
          </a:stretch>
        </p:blipFill>
        <p:spPr>
          <a:xfrm>
            <a:off x="2851785" y="6029325"/>
            <a:ext cx="952500" cy="381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文本框 222"/>
          <p:cNvSpPr txBox="1"/>
          <p:nvPr/>
        </p:nvSpPr>
        <p:spPr>
          <a:xfrm>
            <a:off x="1018540" y="213360"/>
            <a:ext cx="9782175" cy="97726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3200" dirty="0">
                <a:solidFill>
                  <a:srgbClr val="8B0012"/>
                </a:solidFill>
                <a:latin typeface="Century Gothic" panose="020B0502020202020204" pitchFamily="34" charset="0"/>
                <a:ea typeface="微软雅黑" panose="020B0503020204020204" pitchFamily="34" charset="-122"/>
              </a:rPr>
              <a:t>S-matrix method for judging if Jackiw rebbi modes can be used for braiding</a:t>
            </a:r>
          </a:p>
        </p:txBody>
      </p:sp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324350" y="2401570"/>
          <a:ext cx="342265" cy="646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r:id="rId7" imgW="114300" imgH="215900" progId="Equation.KSEE3">
                  <p:embed/>
                </p:oleObj>
              </mc:Choice>
              <mc:Fallback>
                <p:oleObj r:id="rId7" imgW="114300" imgH="215900" progId="Equation.KSEE3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350" y="2401570"/>
                        <a:ext cx="342265" cy="646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21005" y="1360805"/>
            <a:ext cx="6927215" cy="37401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ea typeface="冬青黑体简体中文 W3" panose="020B0300000000000000" pitchFamily="34" charset="-122"/>
                <a:cs typeface="Calibri" panose="020F0502020204030204" charset="0"/>
              </a:rPr>
              <a:t>Shot noise and Fano factor for a</a:t>
            </a:r>
            <a:r>
              <a: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ea typeface="冬青黑体简体中文 W3" panose="020B0300000000000000" pitchFamily="34" charset="-122"/>
                <a:cs typeface="Calibri" panose="020F0502020204030204" charset="0"/>
                <a:sym typeface="+mn-ea"/>
              </a:rPr>
              <a:t> single pair of Majorana</a:t>
            </a:r>
            <a:r>
              <a: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 </a:t>
            </a:r>
          </a:p>
        </p:txBody>
      </p:sp>
      <p:pic>
        <p:nvPicPr>
          <p:cNvPr id="100" name="图片 99"/>
          <p:cNvPicPr/>
          <p:nvPr/>
        </p:nvPicPr>
        <p:blipFill>
          <a:blip r:embed="rId9"/>
          <a:stretch>
            <a:fillRect/>
          </a:stretch>
        </p:blipFill>
        <p:spPr>
          <a:xfrm>
            <a:off x="421005" y="2280285"/>
            <a:ext cx="6712585" cy="11404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10"/>
          <a:stretch>
            <a:fillRect/>
          </a:stretch>
        </p:blipFill>
        <p:spPr>
          <a:xfrm>
            <a:off x="421005" y="1744345"/>
            <a:ext cx="4737100" cy="647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60655" y="6344920"/>
            <a:ext cx="5480685" cy="791845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kumimoji="1" sz="1400" dirty="0">
                <a:solidFill>
                  <a:srgbClr val="008000"/>
                </a:solidFill>
                <a:latin typeface="Times New Roman" panose="02020603050405020304" pitchFamily="18" charset="0"/>
                <a:ea typeface="华文新魏" panose="02010800040101010101" charset="-122"/>
                <a:sym typeface="+mn-ea"/>
              </a:rPr>
              <a:t>Anantram M P, Datta S. Current fluctuations in mesoscopic systems with Andreev scattering[J]. Physical Review B, 1996, 53(24): 16390.</a:t>
            </a:r>
          </a:p>
        </p:txBody>
      </p:sp>
      <p:pic>
        <p:nvPicPr>
          <p:cNvPr id="103" name="图片 102"/>
          <p:cNvPicPr/>
          <p:nvPr/>
        </p:nvPicPr>
        <p:blipFill>
          <a:blip r:embed="rId11"/>
          <a:stretch>
            <a:fillRect/>
          </a:stretch>
        </p:blipFill>
        <p:spPr>
          <a:xfrm>
            <a:off x="161290" y="5812790"/>
            <a:ext cx="857250" cy="438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图片 104"/>
          <p:cNvPicPr/>
          <p:nvPr/>
        </p:nvPicPr>
        <p:blipFill>
          <a:blip r:embed="rId12"/>
          <a:stretch>
            <a:fillRect/>
          </a:stretch>
        </p:blipFill>
        <p:spPr>
          <a:xfrm>
            <a:off x="1018540" y="5744845"/>
            <a:ext cx="2857500" cy="571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421005" y="3499485"/>
            <a:ext cx="7386320" cy="37401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ea typeface="冬青黑体简体中文 W3" panose="020B0300000000000000" pitchFamily="34" charset="-122"/>
                <a:cs typeface="Calibri" panose="020F0502020204030204" charset="0"/>
              </a:rPr>
              <a:t>The lowest point of the noise is suppressed to 0 </a:t>
            </a:r>
            <a:r>
              <a: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冬青黑体简体中文 W3" panose="020B0300000000000000" pitchFamily="34" charset="-122"/>
                <a:ea typeface="冬青黑体简体中文 W3" panose="020B0300000000000000" pitchFamily="34" charset="-122"/>
              </a:rPr>
              <a:t> </a:t>
            </a:r>
          </a:p>
        </p:txBody>
      </p:sp>
      <p:pic>
        <p:nvPicPr>
          <p:cNvPr id="8" name="图片 7"/>
          <p:cNvPicPr/>
          <p:nvPr/>
        </p:nvPicPr>
        <p:blipFill>
          <a:blip r:embed="rId13"/>
          <a:stretch>
            <a:fillRect/>
          </a:stretch>
        </p:blipFill>
        <p:spPr>
          <a:xfrm>
            <a:off x="247015" y="3966210"/>
            <a:ext cx="6886575" cy="16338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/>
          <p:cNvPicPr/>
          <p:nvPr/>
        </p:nvPicPr>
        <p:blipFill>
          <a:blip r:embed="rId14"/>
          <a:stretch>
            <a:fillRect/>
          </a:stretch>
        </p:blipFill>
        <p:spPr>
          <a:xfrm>
            <a:off x="7685405" y="3903980"/>
            <a:ext cx="4373245" cy="29375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图片 10"/>
          <p:cNvPicPr/>
          <p:nvPr/>
        </p:nvPicPr>
        <p:blipFill>
          <a:blip r:embed="rId15"/>
          <a:stretch>
            <a:fillRect/>
          </a:stretch>
        </p:blipFill>
        <p:spPr>
          <a:xfrm>
            <a:off x="7685405" y="829310"/>
            <a:ext cx="4373245" cy="30441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文本框 222"/>
          <p:cNvSpPr txBox="1"/>
          <p:nvPr/>
        </p:nvSpPr>
        <p:spPr>
          <a:xfrm>
            <a:off x="1018540" y="393065"/>
            <a:ext cx="9782175" cy="97726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3200" dirty="0">
                <a:solidFill>
                  <a:srgbClr val="8B0012"/>
                </a:solidFill>
                <a:latin typeface="Century Gothic" panose="020B0502020202020204" pitchFamily="34" charset="0"/>
                <a:ea typeface="微软雅黑" panose="020B0503020204020204" pitchFamily="34" charset="-122"/>
              </a:rPr>
              <a:t>Numercial method for solving SSH-chain </a:t>
            </a:r>
          </a:p>
        </p:txBody>
      </p:sp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324350" y="2401570"/>
          <a:ext cx="342265" cy="646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r:id="rId11" imgW="114300" imgH="215900" progId="Equation.KSEE3">
                  <p:embed/>
                </p:oleObj>
              </mc:Choice>
              <mc:Fallback>
                <p:oleObj r:id="rId11" imgW="114300" imgH="215900" progId="Equation.KSEE3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24350" y="2401570"/>
                        <a:ext cx="342265" cy="646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" name="图片 103"/>
          <p:cNvPicPr/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60425" y="929640"/>
            <a:ext cx="4180840" cy="10001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18540" y="2011045"/>
          <a:ext cx="68961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r:id="rId14" imgW="381000" imgH="215900" progId="Equation.KSEE3">
                  <p:embed/>
                </p:oleObj>
              </mc:Choice>
              <mc:Fallback>
                <p:oleObj r:id="rId14" imgW="381000" imgH="2159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18540" y="2011045"/>
                        <a:ext cx="689610" cy="39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1799590" y="2019300"/>
            <a:ext cx="3241675" cy="37401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冬青黑体简体中文 W3" panose="020B0300000000000000" pitchFamily="34" charset="-122"/>
                <a:cs typeface="+mn-lt"/>
              </a:rPr>
              <a:t>topological nontrival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936625" y="2538095"/>
                <a:ext cx="4365625" cy="407670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200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 panose="020F0502020204030204" charset="0"/>
                    <a:ea typeface="冬青黑体简体中文 W3" panose="020B0300000000000000" pitchFamily="34" charset="-122"/>
                    <a:cs typeface="Calibri" panose="020F0502020204030204" charset="0"/>
                  </a:rPr>
                  <a:t>on-site energy difference</a:t>
                </a:r>
                <a:r>
                  <a:rPr lang="en-US" altLang="zh-CN" sz="200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冬青黑体简体中文 W3" panose="020B0300000000000000" pitchFamily="34" charset="-122"/>
                    <a:ea typeface="冬青黑体简体中文 W3" panose="020B0300000000000000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∆=|</m:t>
                    </m:r>
                    <m:sSub>
                      <m:sSubPr>
                        <m:ctrlP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𝐴</m:t>
                        </m:r>
                      </m:sub>
                    </m:sSub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𝐵</m:t>
                        </m:r>
                      </m:sub>
                    </m:sSub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|</m:t>
                    </m:r>
                  </m:oMath>
                </a14:m>
                <a:endParaRPr lang="en-US" altLang="zh-CN" sz="2000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冬青黑体简体中文 W3" panose="020B0300000000000000" pitchFamily="34" charset="-122"/>
                  <a:ea typeface="冬青黑体简体中文 W3" panose="020B0300000000000000" pitchFamily="34" charset="-122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6"/>
                </p:custDataLst>
              </p:nvPr>
            </p:nvSpPr>
            <p:spPr>
              <a:xfrm>
                <a:off x="936625" y="2538095"/>
                <a:ext cx="4365625" cy="407670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799590" y="1581150"/>
          <a:ext cx="210185" cy="227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r:id="rId18" imgW="152400" imgH="165100" progId="Equation.KSEE3">
                  <p:embed/>
                </p:oleObj>
              </mc:Choice>
              <mc:Fallback>
                <p:oleObj r:id="rId18" imgW="152400" imgH="1651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799590" y="1581150"/>
                        <a:ext cx="210185" cy="227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2529840" y="1580515"/>
          <a:ext cx="210185" cy="227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r:id="rId20" imgW="152400" imgH="165100" progId="Equation.KSEE3">
                  <p:embed/>
                </p:oleObj>
              </mc:Choice>
              <mc:Fallback>
                <p:oleObj r:id="rId20" imgW="152400" imgH="1651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529840" y="1580515"/>
                        <a:ext cx="210185" cy="227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939165" y="3429000"/>
            <a:ext cx="5390515" cy="37401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endParaRPr lang="en-US" altLang="zh-CN" sz="20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936625" y="3055620"/>
            <a:ext cx="3241675" cy="37401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2000">
                <a:solidFill>
                  <a:srgbClr val="8B001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冬青黑体简体中文 W3" panose="020B0300000000000000" pitchFamily="34" charset="-122"/>
                <a:cs typeface="+mn-lt"/>
              </a:rPr>
              <a:t>NEGF method</a:t>
            </a:r>
          </a:p>
        </p:txBody>
      </p:sp>
      <p:pic>
        <p:nvPicPr>
          <p:cNvPr id="100" name="图片 99"/>
          <p:cNvPicPr/>
          <p:nvPr/>
        </p:nvPicPr>
        <p:blipFill>
          <a:blip r:embed="rId22"/>
          <a:stretch>
            <a:fillRect/>
          </a:stretch>
        </p:blipFill>
        <p:spPr>
          <a:xfrm>
            <a:off x="1018540" y="3539490"/>
            <a:ext cx="3848100" cy="381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23"/>
          <a:stretch>
            <a:fillRect/>
          </a:stretch>
        </p:blipFill>
        <p:spPr>
          <a:xfrm>
            <a:off x="913765" y="3903028"/>
            <a:ext cx="3752850" cy="600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图片 101"/>
          <p:cNvPicPr/>
          <p:nvPr/>
        </p:nvPicPr>
        <p:blipFill>
          <a:blip r:embed="rId24"/>
          <a:stretch>
            <a:fillRect/>
          </a:stretch>
        </p:blipFill>
        <p:spPr>
          <a:xfrm>
            <a:off x="938848" y="4555490"/>
            <a:ext cx="5057775" cy="666750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926580" y="1076325"/>
                <a:ext cx="4678045" cy="853440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200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ea typeface="冬青黑体简体中文 W3" panose="020B0300000000000000" pitchFamily="34" charset="-122"/>
                    <a:cs typeface="+mn-lt"/>
                  </a:rPr>
                  <a:t>Shot noise vs.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𝑙𝑒𝑎𝑑</m:t>
                        </m:r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𝑐</m:t>
                        </m:r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 </m:t>
                        </m:r>
                      </m:sub>
                    </m:sSub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   </m:t>
                    </m:r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∆=0</m:t>
                    </m:r>
                  </m:oMath>
                </a14:m>
                <a:r>
                  <a:rPr lang="en-US" altLang="zh-CN" sz="2000" i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charset="0"/>
                    <a:ea typeface="冬青黑体简体中文 W3" panose="020B0300000000000000" pitchFamily="34" charset="-122"/>
                    <a:cs typeface="Cambria Math" panose="02040503050406030204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  <a:ea typeface="冬青黑体简体中文 W3" panose="020B0300000000000000" pitchFamily="3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charset="0"/>
                              <a:ea typeface="冬青黑体简体中文 W3" panose="020B0300000000000000" pitchFamily="34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 smtClean="0"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 smtClean="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=0.6 </m:t>
                      </m:r>
                      <m:sSub>
                        <m:sSubPr>
                          <m:ctrlPr>
                            <a:rPr lang="en-US" altLang="zh-CN" sz="2000" i="1" smtClean="0"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  <a:ea typeface="冬青黑体简体中文 W3" panose="020B0300000000000000" pitchFamily="3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      </m:t>
                          </m:r>
                          <m:r>
                            <a:rPr lang="en-US" altLang="zh-CN" sz="2000" i="1" smtClean="0"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charset="0"/>
                              <a:ea typeface="冬青黑体简体中文 W3" panose="020B0300000000000000" pitchFamily="34" charset="-122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 smtClean="0"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 smtClean="0"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=1.2</m:t>
                      </m:r>
                    </m:oMath>
                  </m:oMathPara>
                </a14:m>
                <a:endParaRPr lang="en-US" altLang="zh-CN" sz="2000" i="1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charset="0"/>
                  <a:ea typeface="冬青黑体简体中文 W3" panose="020B0300000000000000" pitchFamily="34" charset="-122"/>
                  <a:cs typeface="Cambria Math" panose="02040503050406030204" charset="0"/>
                </a:endParaRPr>
              </a:p>
              <a:p>
                <a:endParaRPr lang="en-US" altLang="zh-CN" sz="2000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冬青黑体简体中文 W3" panose="020B0300000000000000" pitchFamily="34" charset="-122"/>
                  <a:cs typeface="+mn-lt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6926580" y="1076325"/>
                <a:ext cx="4678045" cy="853440"/>
              </a:xfrm>
              <a:prstGeom prst="rect">
                <a:avLst/>
              </a:prstGeom>
              <a:blipFill rotWithShape="1">
                <a:blip r:embed="rId26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对象 1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r:id="rId27" imgW="114300" imgH="215900" progId="Equation.KSEE3">
                  <p:embed/>
                </p:oleObj>
              </mc:Choice>
              <mc:Fallback>
                <p:oleObj r:id="rId27" imgW="114300" imgH="215900" progId="Equation.KSEE3">
                  <p:embed/>
                  <p:pic>
                    <p:nvPicPr>
                      <p:cNvPr id="0" name="图片 102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r:id="rId28" imgW="114300" imgH="215900" progId="Equation.KSEE3">
                  <p:embed/>
                </p:oleObj>
              </mc:Choice>
              <mc:Fallback>
                <p:oleObj r:id="rId28" imgW="114300" imgH="215900" progId="Equation.KSEE3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" name="图片 102"/>
          <p:cNvPicPr/>
          <p:nvPr/>
        </p:nvPicPr>
        <p:blipFill>
          <a:blip r:embed="rId29"/>
          <a:stretch>
            <a:fillRect/>
          </a:stretch>
        </p:blipFill>
        <p:spPr>
          <a:xfrm>
            <a:off x="5996940" y="1929130"/>
            <a:ext cx="6195060" cy="41446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文本框 222"/>
          <p:cNvSpPr txBox="1"/>
          <p:nvPr/>
        </p:nvSpPr>
        <p:spPr>
          <a:xfrm>
            <a:off x="1018540" y="393065"/>
            <a:ext cx="9782175" cy="97726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3200" dirty="0">
                <a:solidFill>
                  <a:srgbClr val="8B0012"/>
                </a:solidFill>
                <a:latin typeface="Century Gothic" panose="020B0502020202020204" pitchFamily="34" charset="0"/>
                <a:ea typeface="微软雅黑" panose="020B0503020204020204" pitchFamily="34" charset="-122"/>
              </a:rPr>
              <a:t>Numercial method for solving SSH-chain </a:t>
            </a:r>
          </a:p>
        </p:txBody>
      </p:sp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324350" y="2401570"/>
          <a:ext cx="342265" cy="646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r:id="rId17" imgW="114300" imgH="215900" progId="Equation.KSEE3">
                  <p:embed/>
                </p:oleObj>
              </mc:Choice>
              <mc:Fallback>
                <p:oleObj r:id="rId17" imgW="114300" imgH="215900" progId="Equation.KSEE3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24350" y="2401570"/>
                        <a:ext cx="342265" cy="646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" name="图片 103"/>
          <p:cNvPicPr/>
          <p:nvPr>
            <p:custDataLst>
              <p:tags r:id="rId2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860425" y="929640"/>
            <a:ext cx="4180840" cy="10001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799590" y="1581150"/>
          <a:ext cx="210185" cy="227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r:id="rId20" imgW="152400" imgH="165100" progId="Equation.KSEE3">
                  <p:embed/>
                </p:oleObj>
              </mc:Choice>
              <mc:Fallback>
                <p:oleObj r:id="rId20" imgW="152400" imgH="1651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799590" y="1581150"/>
                        <a:ext cx="210185" cy="227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529840" y="1580515"/>
          <a:ext cx="210185" cy="227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r:id="rId22" imgW="152400" imgH="165100" progId="Equation.KSEE3">
                  <p:embed/>
                </p:oleObj>
              </mc:Choice>
              <mc:Fallback>
                <p:oleObj r:id="rId22" imgW="152400" imgH="1651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529840" y="1580515"/>
                        <a:ext cx="210185" cy="227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939165" y="3429000"/>
            <a:ext cx="5390515" cy="37401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endParaRPr lang="en-US" altLang="zh-CN" sz="20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34330" y="1114425"/>
                <a:ext cx="4678045" cy="853440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200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ea typeface="冬青黑体简体中文 W3" panose="020B0300000000000000" pitchFamily="34" charset="-122"/>
                    <a:cs typeface="+mn-lt"/>
                  </a:rPr>
                  <a:t>T(E)  vs.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∆</m:t>
                    </m:r>
                  </m:oMath>
                </a14:m>
                <a:r>
                  <a:rPr lang="en-US" altLang="zh-CN" sz="2000" i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charset="0"/>
                    <a:ea typeface="冬青黑体简体中文 W3" panose="020B0300000000000000" pitchFamily="34" charset="-122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           </m:t>
                    </m:r>
                    <m:sSub>
                      <m:sSubPr>
                        <m:ctrlP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=0.6 </m:t>
                    </m:r>
                    <m:sSub>
                      <m:sSubPr>
                        <m:ctrlP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      </m:t>
                        </m:r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=1.2</m:t>
                    </m:r>
                  </m:oMath>
                </a14:m>
                <a:endParaRPr lang="en-US" altLang="zh-CN" sz="2000" i="1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charset="0"/>
                  <a:ea typeface="冬青黑体简体中文 W3" panose="020B0300000000000000" pitchFamily="34" charset="-122"/>
                  <a:cs typeface="Cambria Math" panose="02040503050406030204" charset="0"/>
                </a:endParaRPr>
              </a:p>
              <a:p>
                <a:endParaRPr lang="en-US" altLang="zh-CN" sz="2000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冬青黑体简体中文 W3" panose="020B0300000000000000" pitchFamily="34" charset="-122"/>
                  <a:cs typeface="+mn-lt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5434330" y="1114425"/>
                <a:ext cx="4678045" cy="853440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对象 1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r:id="rId26" imgW="114300" imgH="215900" progId="Equation.KSEE3">
                  <p:embed/>
                </p:oleObj>
              </mc:Choice>
              <mc:Fallback>
                <p:oleObj r:id="rId26" imgW="114300" imgH="215900" progId="Equation.KSEE3">
                  <p:embed/>
                  <p:pic>
                    <p:nvPicPr>
                      <p:cNvPr id="0" name="图片 102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r:id="rId27" imgW="114300" imgH="215900" progId="Equation.KSEE3">
                  <p:embed/>
                </p:oleObj>
              </mc:Choice>
              <mc:Fallback>
                <p:oleObj r:id="rId27" imgW="114300" imgH="215900" progId="Equation.KSEE3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1018540" y="1961515"/>
            <a:ext cx="4365625" cy="40767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ea typeface="冬青黑体简体中文 W3" panose="020B0300000000000000" pitchFamily="34" charset="-122"/>
                <a:cs typeface="Calibri" panose="020F0502020204030204" charset="0"/>
              </a:rPr>
              <a:t>Physical quantities vs. S-matrix</a:t>
            </a:r>
            <a:endParaRPr lang="zh-CN" altLang="en-US" sz="20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ea typeface="冬青黑体简体中文 W3" panose="020B0300000000000000" pitchFamily="34" charset="-122"/>
              <a:cs typeface="Calibri" panose="020F0502020204030204" charset="0"/>
            </a:endParaRPr>
          </a:p>
        </p:txBody>
      </p:sp>
      <p:pic>
        <p:nvPicPr>
          <p:cNvPr id="128" name="图片 127"/>
          <p:cNvPicPr/>
          <p:nvPr>
            <p:custDataLst>
              <p:tags r:id="rId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666298" y="1929765"/>
            <a:ext cx="1857375" cy="438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9" name="图片 128"/>
          <p:cNvPicPr/>
          <p:nvPr>
            <p:custDataLst>
              <p:tags r:id="rId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6523990" y="1961515"/>
            <a:ext cx="952500" cy="381000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7917815" y="1961515"/>
                <a:ext cx="3460750" cy="434340"/>
              </a:xfrm>
              <a:prstGeom prst="rect">
                <a:avLst/>
              </a:prstGeom>
            </p:spPr>
            <p:txBody>
              <a:bodyPr wrap="square" rtlCol="0" anchor="t">
                <a:noAutofit/>
              </a:bodyPr>
              <a:lstStyle/>
              <a:p>
                <a:r>
                  <a:rPr lang="en-US" altLang="zh-CN" sz="200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ea typeface="冬青黑体简体中文 W3" panose="020B0300000000000000" pitchFamily="34" charset="-122"/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𝑙𝑒𝑎𝑑</m:t>
                        </m:r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𝑐</m:t>
                        </m:r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 </m:t>
                        </m:r>
                      </m:sub>
                    </m:sSub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~ </m:t>
                    </m:r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  </m:t>
                    </m:r>
                    <m:sSub>
                      <m:sSubPr>
                        <m:ctrlP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  </m:t>
                        </m:r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~ </m:t>
                    </m:r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𝜖</m:t>
                    </m:r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   ∆~ ∆   </m:t>
                    </m:r>
                  </m:oMath>
                </a14:m>
                <a:endParaRPr lang="en-US" altLang="zh-CN" sz="2000" i="1">
                  <a:solidFill>
                    <a:srgbClr val="0170D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charset="0"/>
                  <a:ea typeface="冬青黑体简体中文 W3" panose="020B0300000000000000" pitchFamily="34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815" y="1961515"/>
                <a:ext cx="3460750" cy="434340"/>
              </a:xfrm>
              <a:prstGeom prst="rect">
                <a:avLst/>
              </a:prstGeom>
              <a:blipFill rotWithShape="1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8980170" y="2699385"/>
                <a:ext cx="2706370" cy="398780"/>
              </a:xfrm>
              <a:prstGeom prst="rect">
                <a:avLst/>
              </a:prstGeom>
            </p:spPr>
            <p:txBody>
              <a:bodyPr wrap="square" rtlCol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∆</m:t>
                    </m:r>
                  </m:oMath>
                </a14:m>
                <a:r>
                  <a:rPr lang="en-US" altLang="zh-CN" sz="2000" i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charset="0"/>
                    <a:ea typeface="冬青黑体简体中文 W3" panose="020B0300000000000000" pitchFamily="34" charset="-122"/>
                    <a:cs typeface="Cambria Math" panose="02040503050406030204" charset="0"/>
                    <a:sym typeface="+mn-ea"/>
                  </a:rPr>
                  <a:t> = </a:t>
                </a:r>
                <a:r>
                  <a:rPr lang="en-US" altLang="zh-CN" sz="200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charset="0"/>
                    <a:ea typeface="冬青黑体简体中文 W3" panose="020B0300000000000000" pitchFamily="34" charset="-122"/>
                    <a:cs typeface="Cambria Math" panose="02040503050406030204" charset="0"/>
                    <a:sym typeface="+mn-ea"/>
                  </a:rPr>
                  <a:t>0.1</a:t>
                </a:r>
                <a:endParaRPr lang="en-US" altLang="zh-CN" sz="2000">
                  <a:solidFill>
                    <a:srgbClr val="0170D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charset="0"/>
                  <a:ea typeface="冬青黑体简体中文 W3" panose="020B0300000000000000" pitchFamily="34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0170" y="2699385"/>
                <a:ext cx="2706370" cy="398780"/>
              </a:xfrm>
              <a:prstGeom prst="rect">
                <a:avLst/>
              </a:prstGeom>
              <a:blipFill rotWithShape="1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83860" y="2699385"/>
                <a:ext cx="1390650" cy="398780"/>
              </a:xfrm>
              <a:prstGeom prst="rect">
                <a:avLst/>
              </a:prstGeom>
            </p:spPr>
            <p:txBody>
              <a:bodyPr wrap="square" rtlCol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∆</m:t>
                    </m:r>
                  </m:oMath>
                </a14:m>
                <a:r>
                  <a:rPr lang="en-US" altLang="zh-CN" sz="2000" i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charset="0"/>
                    <a:ea typeface="冬青黑体简体中文 W3" panose="020B0300000000000000" pitchFamily="34" charset="-122"/>
                    <a:cs typeface="Cambria Math" panose="02040503050406030204" charset="0"/>
                    <a:sym typeface="+mn-ea"/>
                  </a:rPr>
                  <a:t> = </a:t>
                </a:r>
                <a:r>
                  <a:rPr lang="en-US" altLang="zh-CN" sz="200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charset="0"/>
                    <a:ea typeface="冬青黑体简体中文 W3" panose="020B0300000000000000" pitchFamily="34" charset="-122"/>
                    <a:cs typeface="Cambria Math" panose="02040503050406030204" charset="0"/>
                    <a:sym typeface="+mn-ea"/>
                  </a:rPr>
                  <a:t>0.05</a:t>
                </a:r>
                <a:endParaRPr lang="en-US" altLang="zh-CN" sz="2000">
                  <a:solidFill>
                    <a:srgbClr val="0170D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charset="0"/>
                  <a:ea typeface="冬青黑体简体中文 W3" panose="020B0300000000000000" pitchFamily="34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 xmlns=""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2"/>
                </p:custDataLst>
              </p:nvPr>
            </p:nvSpPr>
            <p:spPr>
              <a:xfrm>
                <a:off x="5483860" y="2699385"/>
                <a:ext cx="1390650" cy="398780"/>
              </a:xfrm>
              <a:prstGeom prst="rect">
                <a:avLst/>
              </a:prstGeom>
              <a:blipFill rotWithShape="1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515110" y="2699385"/>
                <a:ext cx="1390650" cy="398780"/>
              </a:xfrm>
              <a:prstGeom prst="rect">
                <a:avLst/>
              </a:prstGeom>
            </p:spPr>
            <p:txBody>
              <a:bodyPr wrap="square" rtlCol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∆</m:t>
                    </m:r>
                  </m:oMath>
                </a14:m>
                <a:r>
                  <a:rPr lang="en-US" altLang="zh-CN" sz="2000" i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charset="0"/>
                    <a:ea typeface="冬青黑体简体中文 W3" panose="020B0300000000000000" pitchFamily="34" charset="-122"/>
                    <a:cs typeface="Cambria Math" panose="02040503050406030204" charset="0"/>
                    <a:sym typeface="+mn-ea"/>
                  </a:rPr>
                  <a:t> = </a:t>
                </a:r>
                <a:r>
                  <a:rPr lang="en-US" altLang="zh-CN" sz="200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charset="0"/>
                    <a:ea typeface="冬青黑体简体中文 W3" panose="020B0300000000000000" pitchFamily="34" charset="-122"/>
                    <a:cs typeface="Cambria Math" panose="02040503050406030204" charset="0"/>
                    <a:sym typeface="+mn-ea"/>
                  </a:rPr>
                  <a:t>0.02</a:t>
                </a:r>
                <a:endParaRPr lang="en-US" altLang="zh-CN" sz="2000">
                  <a:solidFill>
                    <a:srgbClr val="0170D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charset="0"/>
                  <a:ea typeface="冬青黑体简体中文 W3" panose="020B0300000000000000" pitchFamily="34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 xmlns=""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4"/>
                </p:custDataLst>
              </p:nvPr>
            </p:nvSpPr>
            <p:spPr>
              <a:xfrm>
                <a:off x="1515110" y="2699385"/>
                <a:ext cx="1390650" cy="398780"/>
              </a:xfrm>
              <a:prstGeom prst="rect">
                <a:avLst/>
              </a:prstGeom>
              <a:blipFill rotWithShape="1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109855" y="3098165"/>
            <a:ext cx="3837940" cy="28428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4107815" y="3114040"/>
            <a:ext cx="3816985" cy="28270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8087995" y="3109595"/>
            <a:ext cx="3712845" cy="275018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14"/>
            </p:custDataLst>
          </p:nvPr>
        </p:nvSpPr>
        <p:spPr>
          <a:xfrm>
            <a:off x="777875" y="6219190"/>
            <a:ext cx="10314940" cy="40767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ea typeface="冬青黑体简体中文 W3" panose="020B0300000000000000" pitchFamily="34" charset="-122"/>
                <a:cs typeface="Calibri" panose="020F0502020204030204" charset="0"/>
              </a:rPr>
              <a:t>The NEGF method is consistent with the results obtained by the S-matrix method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文本框 222"/>
          <p:cNvSpPr txBox="1"/>
          <p:nvPr/>
        </p:nvSpPr>
        <p:spPr>
          <a:xfrm>
            <a:off x="1635229" y="722674"/>
            <a:ext cx="9782175" cy="97726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3200" dirty="0">
                <a:solidFill>
                  <a:srgbClr val="8B0012"/>
                </a:solidFill>
                <a:latin typeface="Century Gothic" panose="020B0502020202020204" pitchFamily="34" charset="0"/>
                <a:ea typeface="微软雅黑" panose="020B0503020204020204" pitchFamily="34" charset="-122"/>
              </a:rPr>
              <a:t>Numercial method for solving SSH-chain </a:t>
            </a:r>
          </a:p>
        </p:txBody>
      </p:sp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324350" y="2401570"/>
          <a:ext cx="342265" cy="646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r:id="rId16" imgW="114300" imgH="215900" progId="Equation.KSEE3">
                  <p:embed/>
                </p:oleObj>
              </mc:Choice>
              <mc:Fallback>
                <p:oleObj r:id="rId16" imgW="114300" imgH="215900" progId="Equation.KSEE3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324350" y="2401570"/>
                        <a:ext cx="342265" cy="646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" name="图片 103"/>
          <p:cNvPicPr/>
          <p:nvPr>
            <p:custDataLst>
              <p:tags r:id="rId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81690" y="1057232"/>
            <a:ext cx="4180840" cy="10001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799590" y="1581150"/>
          <a:ext cx="210185" cy="227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r:id="rId19" imgW="152400" imgH="165100" progId="Equation.KSEE3">
                  <p:embed/>
                </p:oleObj>
              </mc:Choice>
              <mc:Fallback>
                <p:oleObj r:id="rId19" imgW="152400" imgH="1651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799590" y="1581150"/>
                        <a:ext cx="210185" cy="227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529840" y="1580515"/>
          <a:ext cx="210185" cy="227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r:id="rId21" imgW="152400" imgH="165100" progId="Equation.KSEE3">
                  <p:embed/>
                </p:oleObj>
              </mc:Choice>
              <mc:Fallback>
                <p:oleObj r:id="rId21" imgW="152400" imgH="1651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529840" y="1580515"/>
                        <a:ext cx="210185" cy="227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939165" y="3429000"/>
            <a:ext cx="5390515" cy="37401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endParaRPr lang="en-US" altLang="zh-CN" sz="20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34330" y="1114425"/>
                <a:ext cx="4678045" cy="853440"/>
              </a:xfrm>
              <a:prstGeom prst="rect">
                <a:avLst/>
              </a:prstGeom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2000" dirty="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ea typeface="冬青黑体简体中文 W3" panose="020B0300000000000000" pitchFamily="34" charset="-122"/>
                    <a:cs typeface="+mn-lt"/>
                  </a:rPr>
                  <a:t>Shot noise vs.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∆</m:t>
                    </m:r>
                  </m:oMath>
                </a14:m>
                <a:r>
                  <a:rPr lang="en-US" altLang="zh-CN" sz="2000" i="1" dirty="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charset="0"/>
                    <a:ea typeface="冬青黑体简体中文 W3" panose="020B0300000000000000" pitchFamily="34" charset="-122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           </m:t>
                    </m:r>
                    <m:sSub>
                      <m:sSubPr>
                        <m:ctrlP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=0.6 </m:t>
                    </m:r>
                    <m:sSub>
                      <m:sSubPr>
                        <m:ctrlP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      </m:t>
                        </m:r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=1.2</m:t>
                    </m:r>
                  </m:oMath>
                </a14:m>
                <a:endParaRPr lang="en-US" altLang="zh-CN" sz="2000" i="1" dirty="0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charset="0"/>
                  <a:ea typeface="冬青黑体简体中文 W3" panose="020B0300000000000000" pitchFamily="34" charset="-122"/>
                  <a:cs typeface="Cambria Math" panose="02040503050406030204" charset="0"/>
                </a:endParaRPr>
              </a:p>
              <a:p>
                <a:endParaRPr lang="en-US" altLang="zh-CN" sz="2000" dirty="0"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冬青黑体简体中文 W3" panose="020B0300000000000000" pitchFamily="34" charset="-122"/>
                  <a:cs typeface="+mn-lt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5434330" y="1114425"/>
                <a:ext cx="4678045" cy="853440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对象 1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r:id="rId25" imgW="114300" imgH="215900" progId="Equation.KSEE3">
                  <p:embed/>
                </p:oleObj>
              </mc:Choice>
              <mc:Fallback>
                <p:oleObj r:id="rId25" imgW="114300" imgH="215900" progId="Equation.KSEE3">
                  <p:embed/>
                  <p:pic>
                    <p:nvPicPr>
                      <p:cNvPr id="0" name="图片 102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r:id="rId26" imgW="114300" imgH="215900" progId="Equation.KSEE3">
                  <p:embed/>
                </p:oleObj>
              </mc:Choice>
              <mc:Fallback>
                <p:oleObj r:id="rId26" imgW="114300" imgH="215900" progId="Equation.KSEE3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1018540" y="1961515"/>
            <a:ext cx="4365625" cy="40767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ea typeface="冬青黑体简体中文 W3" panose="020B0300000000000000" pitchFamily="34" charset="-122"/>
                <a:cs typeface="Calibri" panose="020F0502020204030204" charset="0"/>
              </a:rPr>
              <a:t>Physical quantities vs. S-matrix</a:t>
            </a:r>
            <a:endParaRPr lang="zh-CN" altLang="en-US" sz="20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charset="0"/>
              <a:ea typeface="冬青黑体简体中文 W3" panose="020B0300000000000000" pitchFamily="34" charset="-122"/>
              <a:cs typeface="Calibri" panose="020F0502020204030204" charset="0"/>
            </a:endParaRPr>
          </a:p>
        </p:txBody>
      </p:sp>
      <p:pic>
        <p:nvPicPr>
          <p:cNvPr id="128" name="图片 127"/>
          <p:cNvPicPr/>
          <p:nvPr>
            <p:custDataLst>
              <p:tags r:id="rId7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4666298" y="1929765"/>
            <a:ext cx="1857375" cy="438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9" name="图片 128"/>
          <p:cNvPicPr/>
          <p:nvPr>
            <p:custDataLst>
              <p:tags r:id="rId8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6523990" y="1961515"/>
            <a:ext cx="952500" cy="381000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7917815" y="1961515"/>
                <a:ext cx="3460750" cy="434340"/>
              </a:xfrm>
              <a:prstGeom prst="rect">
                <a:avLst/>
              </a:prstGeom>
            </p:spPr>
            <p:txBody>
              <a:bodyPr wrap="square" rtlCol="0" anchor="t">
                <a:noAutofit/>
              </a:bodyPr>
              <a:lstStyle/>
              <a:p>
                <a:r>
                  <a:rPr lang="en-US" altLang="zh-CN" sz="200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ea typeface="冬青黑体简体中文 W3" panose="020B0300000000000000" pitchFamily="34" charset="-122"/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𝑙𝑒𝑎𝑑</m:t>
                        </m:r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𝑐</m:t>
                        </m:r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 </m:t>
                        </m:r>
                      </m:sub>
                    </m:sSub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~ </m:t>
                    </m:r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  </m:t>
                    </m:r>
                    <m:sSub>
                      <m:sSubPr>
                        <m:ctrlP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  </m:t>
                        </m:r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 smtClean="0"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charset="0"/>
                            <a:ea typeface="冬青黑体简体中文 W3" panose="020B0300000000000000" pitchFamily="34" charset="-122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~ </m:t>
                    </m:r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𝜖</m:t>
                    </m:r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冬青黑体简体中文 W3" panose="020B0300000000000000" pitchFamily="34" charset="-122"/>
                        <a:cs typeface="Cambria Math" panose="02040503050406030204" charset="0"/>
                      </a:rPr>
                      <m:t>   ∆~ ∆   </m:t>
                    </m:r>
                  </m:oMath>
                </a14:m>
                <a:endParaRPr lang="en-US" altLang="zh-CN" sz="2000" i="1">
                  <a:solidFill>
                    <a:srgbClr val="0170D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charset="0"/>
                  <a:ea typeface="冬青黑体简体中文 W3" panose="020B0300000000000000" pitchFamily="34" charset="-122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815" y="1961515"/>
                <a:ext cx="3460750" cy="434340"/>
              </a:xfrm>
              <a:prstGeom prst="rect">
                <a:avLst/>
              </a:prstGeom>
              <a:blipFill rotWithShape="1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174990" y="3348990"/>
            <a:ext cx="4017010" cy="29749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8980170" y="2699385"/>
                <a:ext cx="2706370" cy="398780"/>
              </a:xfrm>
              <a:prstGeom prst="rect">
                <a:avLst/>
              </a:prstGeom>
            </p:spPr>
            <p:txBody>
              <a:bodyPr wrap="square" rtlCol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∆</m:t>
                    </m:r>
                  </m:oMath>
                </a14:m>
                <a:r>
                  <a:rPr lang="en-US" altLang="zh-CN" sz="2000" i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charset="0"/>
                    <a:ea typeface="冬青黑体简体中文 W3" panose="020B0300000000000000" pitchFamily="34" charset="-122"/>
                    <a:cs typeface="Cambria Math" panose="02040503050406030204" charset="0"/>
                    <a:sym typeface="+mn-ea"/>
                  </a:rPr>
                  <a:t> = </a:t>
                </a:r>
                <a:r>
                  <a:rPr lang="en-US" altLang="zh-CN" sz="200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charset="0"/>
                    <a:ea typeface="冬青黑体简体中文 W3" panose="020B0300000000000000" pitchFamily="34" charset="-122"/>
                    <a:cs typeface="Cambria Math" panose="02040503050406030204" charset="0"/>
                    <a:sym typeface="+mn-ea"/>
                  </a:rPr>
                  <a:t>0.1</a:t>
                </a:r>
                <a:endParaRPr lang="en-US" altLang="zh-CN" sz="2000">
                  <a:solidFill>
                    <a:srgbClr val="0170D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charset="0"/>
                  <a:ea typeface="冬青黑体简体中文 W3" panose="020B0300000000000000" pitchFamily="34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0170" y="2699385"/>
                <a:ext cx="2706370" cy="398780"/>
              </a:xfrm>
              <a:prstGeom prst="rect">
                <a:avLst/>
              </a:prstGeom>
              <a:blipFill rotWithShape="1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4126865" y="3348990"/>
            <a:ext cx="3964940" cy="2936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483860" y="2699385"/>
                <a:ext cx="1390650" cy="398780"/>
              </a:xfrm>
              <a:prstGeom prst="rect">
                <a:avLst/>
              </a:prstGeom>
            </p:spPr>
            <p:txBody>
              <a:bodyPr wrap="square" rtlCol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∆</m:t>
                    </m:r>
                  </m:oMath>
                </a14:m>
                <a:r>
                  <a:rPr lang="en-US" altLang="zh-CN" sz="2000" i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charset="0"/>
                    <a:ea typeface="冬青黑体简体中文 W3" panose="020B0300000000000000" pitchFamily="34" charset="-122"/>
                    <a:cs typeface="Cambria Math" panose="02040503050406030204" charset="0"/>
                    <a:sym typeface="+mn-ea"/>
                  </a:rPr>
                  <a:t> = </a:t>
                </a:r>
                <a:r>
                  <a:rPr lang="en-US" altLang="zh-CN" sz="200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charset="0"/>
                    <a:ea typeface="冬青黑体简体中文 W3" panose="020B0300000000000000" pitchFamily="34" charset="-122"/>
                    <a:cs typeface="Cambria Math" panose="02040503050406030204" charset="0"/>
                    <a:sym typeface="+mn-ea"/>
                  </a:rPr>
                  <a:t>0.05</a:t>
                </a:r>
                <a:endParaRPr lang="en-US" altLang="zh-CN" sz="2000">
                  <a:solidFill>
                    <a:srgbClr val="0170D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charset="0"/>
                  <a:ea typeface="冬青黑体简体中文 W3" panose="020B0300000000000000" pitchFamily="34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 xmlns=""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3"/>
                </p:custDataLst>
              </p:nvPr>
            </p:nvSpPr>
            <p:spPr>
              <a:xfrm>
                <a:off x="5483860" y="2699385"/>
                <a:ext cx="1390650" cy="398780"/>
              </a:xfrm>
              <a:prstGeom prst="rect">
                <a:avLst/>
              </a:prstGeom>
              <a:blipFill rotWithShape="1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图片 2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235585" y="3352165"/>
            <a:ext cx="3961130" cy="2933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515110" y="2699385"/>
                <a:ext cx="1390650" cy="398780"/>
              </a:xfrm>
              <a:prstGeom prst="rect">
                <a:avLst/>
              </a:prstGeom>
            </p:spPr>
            <p:txBody>
              <a:bodyPr wrap="square" rtlCol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∆</m:t>
                    </m:r>
                  </m:oMath>
                </a14:m>
                <a:r>
                  <a:rPr lang="en-US" altLang="zh-CN" sz="2000" i="1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charset="0"/>
                    <a:ea typeface="冬青黑体简体中文 W3" panose="020B0300000000000000" pitchFamily="34" charset="-122"/>
                    <a:cs typeface="Cambria Math" panose="02040503050406030204" charset="0"/>
                    <a:sym typeface="+mn-ea"/>
                  </a:rPr>
                  <a:t> = </a:t>
                </a:r>
                <a:r>
                  <a:rPr lang="en-US" altLang="zh-CN" sz="2000"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charset="0"/>
                    <a:ea typeface="冬青黑体简体中文 W3" panose="020B0300000000000000" pitchFamily="34" charset="-122"/>
                    <a:cs typeface="Cambria Math" panose="02040503050406030204" charset="0"/>
                    <a:sym typeface="+mn-ea"/>
                  </a:rPr>
                  <a:t>0.02</a:t>
                </a:r>
                <a:endParaRPr lang="en-US" altLang="zh-CN" sz="2000">
                  <a:solidFill>
                    <a:srgbClr val="0170D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charset="0"/>
                  <a:ea typeface="冬青黑体简体中文 W3" panose="020B0300000000000000" pitchFamily="34" charset="-122"/>
                  <a:cs typeface="Cambria Math" panose="02040503050406030204" charset="0"/>
                  <a:sym typeface="+mn-ea"/>
                </a:endParaRPr>
              </a:p>
            </p:txBody>
          </p:sp>
        </mc:Choice>
        <mc:Fallback xmlns=""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6"/>
                </p:custDataLst>
              </p:nvPr>
            </p:nvSpPr>
            <p:spPr>
              <a:xfrm>
                <a:off x="1515110" y="2699385"/>
                <a:ext cx="1390650" cy="398780"/>
              </a:xfrm>
              <a:prstGeom prst="rect">
                <a:avLst/>
              </a:prstGeom>
              <a:blipFill rotWithShape="1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a6576bc475a3775b8e6aae16aff2a25bef5ac0"/>
  <p:tag name="COMMONDATA" val="eyJoZGlkIjoiZTlhNWQwMTg1Zjc4NWMwNDJkY2ZmZGQ2ODBlYWY5Zj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170D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wrap="square" rtlCol="0">
        <a:spAutoFit/>
      </a:bodyPr>
      <a:lstStyle>
        <a:defPPr>
          <a:defRPr sz="2000" smtClean="0">
            <a:solidFill>
              <a:srgbClr val="0170D1"/>
            </a:solidFill>
            <a:latin typeface="冬青黑体简体中文 W3" panose="020B0300000000000000" pitchFamily="34" charset="-122"/>
            <a:ea typeface="冬青黑体简体中文 W3" panose="020B03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542</Words>
  <Application>Microsoft Office PowerPoint</Application>
  <PresentationFormat>宽屏</PresentationFormat>
  <Paragraphs>73</Paragraphs>
  <Slides>10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MS Mincho</vt:lpstr>
      <vt:lpstr>Calibri</vt:lpstr>
      <vt:lpstr>华文新魏</vt:lpstr>
      <vt:lpstr>Arial</vt:lpstr>
      <vt:lpstr>Calibri Light</vt:lpstr>
      <vt:lpstr>Century Gothic</vt:lpstr>
      <vt:lpstr>Palatino Linotype</vt:lpstr>
      <vt:lpstr>冬青黑体简体中文 W3</vt:lpstr>
      <vt:lpstr>微软雅黑</vt:lpstr>
      <vt:lpstr>宋体</vt:lpstr>
      <vt:lpstr>Times New Roman</vt:lpstr>
      <vt:lpstr>Cambria Math</vt:lpstr>
      <vt:lpstr>Office 主题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常亚南</dc:creator>
  <cp:lastModifiedBy>Windows 用户</cp:lastModifiedBy>
  <cp:revision>263</cp:revision>
  <dcterms:created xsi:type="dcterms:W3CDTF">2016-10-25T07:16:00Z</dcterms:created>
  <dcterms:modified xsi:type="dcterms:W3CDTF">2025-05-09T09:20:42Z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FFADA40BE31A449AAD66D8AD037F0C54_12</vt:lpwstr>
  </property>
  <property fmtid="{D5CDD505-2E9C-101B-9397-08002B2CF9AE}" pid="3" name="KSOProductBuildVer">
    <vt:lpwstr>2052-12.1.0.16120</vt:lpwstr>
  </property>
</Properties>
</file>